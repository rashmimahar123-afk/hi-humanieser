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IBM Plex Sans" panose="020B0503050203000203" pitchFamily="34" charset="0"/>
      <p:regular r:id="rId5"/>
      <p:bold r:id="rId6"/>
      <p:italic r:id="rId7"/>
      <p:boldItalic r:id="rId8"/>
    </p:embeddedFont>
    <p:embeddedFont>
      <p:font typeface="IBM Plex Sans Bold Italics" panose="020B0803050203000203" pitchFamily="34" charset="0"/>
      <p:regular r:id="rId9"/>
      <p:bold r:id="rId10"/>
      <p:italic r:id="rId11"/>
      <p:boldItalic r:id="rId12"/>
    </p:embeddedFont>
    <p:embeddedFont>
      <p:font typeface="IBM Plex Sans Medium" panose="020F0502020204030204" pitchFamily="34" charset="0"/>
      <p:regular r:id="rId13"/>
      <p: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Open Sans Light" panose="020B0306030504020204" pitchFamily="34" charset="0"/>
      <p:regular r:id="rId19"/>
      <p:italic r:id="rId20"/>
    </p:embeddedFont>
    <p:embeddedFont>
      <p:font typeface="Open Sans Semi-Bold" pitchFamily="2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97" autoAdjust="0"/>
  </p:normalViewPr>
  <p:slideViewPr>
    <p:cSldViewPr>
      <p:cViewPr varScale="1">
        <p:scale>
          <a:sx n="71" d="100"/>
          <a:sy n="71" d="100"/>
        </p:scale>
        <p:origin x="78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0" d="100"/>
        <a:sy n="8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viewProps" Target="viewProps.xml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presProps" Target="presProp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69439" y="833755"/>
            <a:ext cx="7670524" cy="9453245"/>
            <a:chOff x="0" y="0"/>
            <a:chExt cx="2020220" cy="26592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20220" cy="2659270"/>
            </a:xfrm>
            <a:custGeom>
              <a:avLst/>
              <a:gdLst/>
              <a:ahLst/>
              <a:cxnLst/>
              <a:rect l="l" t="t" r="r" b="b"/>
              <a:pathLst>
                <a:path w="2020220" h="2659270">
                  <a:moveTo>
                    <a:pt x="100931" y="0"/>
                  </a:moveTo>
                  <a:lnTo>
                    <a:pt x="1919289" y="0"/>
                  </a:lnTo>
                  <a:cubicBezTo>
                    <a:pt x="1975032" y="0"/>
                    <a:pt x="2020220" y="45188"/>
                    <a:pt x="2020220" y="100931"/>
                  </a:cubicBezTo>
                  <a:lnTo>
                    <a:pt x="2020220" y="2558339"/>
                  </a:lnTo>
                  <a:cubicBezTo>
                    <a:pt x="2020220" y="2585107"/>
                    <a:pt x="2009587" y="2610780"/>
                    <a:pt x="1990658" y="2629708"/>
                  </a:cubicBezTo>
                  <a:cubicBezTo>
                    <a:pt x="1971730" y="2648636"/>
                    <a:pt x="1946058" y="2659270"/>
                    <a:pt x="1919289" y="2659270"/>
                  </a:cubicBezTo>
                  <a:lnTo>
                    <a:pt x="100931" y="2659270"/>
                  </a:lnTo>
                  <a:cubicBezTo>
                    <a:pt x="45188" y="2659270"/>
                    <a:pt x="0" y="2614081"/>
                    <a:pt x="0" y="2558339"/>
                  </a:cubicBezTo>
                  <a:lnTo>
                    <a:pt x="0" y="100931"/>
                  </a:lnTo>
                  <a:cubicBezTo>
                    <a:pt x="0" y="45188"/>
                    <a:pt x="45188" y="0"/>
                    <a:pt x="100931" y="0"/>
                  </a:cubicBezTo>
                  <a:close/>
                </a:path>
              </a:pathLst>
            </a:custGeom>
            <a:solidFill>
              <a:srgbClr val="F5C88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20220" cy="2697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650523"/>
            <a:ext cx="11771036" cy="3651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sz="12999" b="1" i="1" dirty="0">
                <a:solidFill>
                  <a:srgbClr val="0F4F58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Common Traps to Watch For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504701" y="6955669"/>
            <a:ext cx="754599" cy="160261"/>
            <a:chOff x="0" y="0"/>
            <a:chExt cx="198742" cy="422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8742" cy="42209"/>
            </a:xfrm>
            <a:custGeom>
              <a:avLst/>
              <a:gdLst/>
              <a:ahLst/>
              <a:cxnLst/>
              <a:rect l="l" t="t" r="r" b="b"/>
              <a:pathLst>
                <a:path w="198742" h="42209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F5F0E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636292" y="6955669"/>
            <a:ext cx="754599" cy="160261"/>
            <a:chOff x="0" y="0"/>
            <a:chExt cx="198742" cy="422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8742" cy="42209"/>
            </a:xfrm>
            <a:custGeom>
              <a:avLst/>
              <a:gdLst/>
              <a:ahLst/>
              <a:cxnLst/>
              <a:rect l="l" t="t" r="r" b="b"/>
              <a:pathLst>
                <a:path w="198742" h="42209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F5F0E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767884" y="6955669"/>
            <a:ext cx="754599" cy="160261"/>
            <a:chOff x="0" y="0"/>
            <a:chExt cx="198742" cy="422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8742" cy="42209"/>
            </a:xfrm>
            <a:custGeom>
              <a:avLst/>
              <a:gdLst/>
              <a:ahLst/>
              <a:cxnLst/>
              <a:rect l="l" t="t" r="r" b="b"/>
              <a:pathLst>
                <a:path w="198742" h="42209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F5F0E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205762" y="2026387"/>
            <a:ext cx="3053538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quick way to notice patterns that pull teams away from the habits they’re trying to build.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962025"/>
            <a:ext cx="585025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F4F58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 Humaniser! Moment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46723" y="7870690"/>
            <a:ext cx="3551520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 i="1">
                <a:solidFill>
                  <a:srgbClr val="0F4F58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Small habits shape how teams work together.</a:t>
            </a:r>
          </a:p>
        </p:txBody>
      </p:sp>
      <p:sp>
        <p:nvSpPr>
          <p:cNvPr id="18" name="Freeform 18"/>
          <p:cNvSpPr/>
          <p:nvPr/>
        </p:nvSpPr>
        <p:spPr>
          <a:xfrm rot="717054">
            <a:off x="10924155" y="52305"/>
            <a:ext cx="4834333" cy="4640960"/>
          </a:xfrm>
          <a:custGeom>
            <a:avLst/>
            <a:gdLst/>
            <a:ahLst/>
            <a:cxnLst/>
            <a:rect l="l" t="t" r="r" b="b"/>
            <a:pathLst>
              <a:path w="4834333" h="4640960">
                <a:moveTo>
                  <a:pt x="0" y="0"/>
                </a:moveTo>
                <a:lnTo>
                  <a:pt x="4834333" y="0"/>
                </a:lnTo>
                <a:lnTo>
                  <a:pt x="4834333" y="4640959"/>
                </a:lnTo>
                <a:lnTo>
                  <a:pt x="0" y="4640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8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95350"/>
            <a:ext cx="1197557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b="1">
                <a:solidFill>
                  <a:srgbClr val="276B6B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to run this HH! Moment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6212465"/>
            <a:ext cx="7646561" cy="2608001"/>
            <a:chOff x="0" y="0"/>
            <a:chExt cx="2013909" cy="6868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13909" cy="686881"/>
            </a:xfrm>
            <a:custGeom>
              <a:avLst/>
              <a:gdLst/>
              <a:ahLst/>
              <a:cxnLst/>
              <a:rect l="l" t="t" r="r" b="b"/>
              <a:pathLst>
                <a:path w="2013909" h="686881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646382"/>
                  </a:lnTo>
                  <a:cubicBezTo>
                    <a:pt x="2013909" y="657123"/>
                    <a:pt x="2009642" y="667424"/>
                    <a:pt x="2002047" y="675019"/>
                  </a:cubicBezTo>
                  <a:cubicBezTo>
                    <a:pt x="1994452" y="682614"/>
                    <a:pt x="1984151" y="686881"/>
                    <a:pt x="1973410" y="686881"/>
                  </a:cubicBezTo>
                  <a:lnTo>
                    <a:pt x="40499" y="686881"/>
                  </a:lnTo>
                  <a:cubicBezTo>
                    <a:pt x="18132" y="686881"/>
                    <a:pt x="0" y="668749"/>
                    <a:pt x="0" y="64638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5F0E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13909" cy="72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862199"/>
            <a:ext cx="7646561" cy="2933379"/>
            <a:chOff x="0" y="0"/>
            <a:chExt cx="2013909" cy="7725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3909" cy="772577"/>
            </a:xfrm>
            <a:custGeom>
              <a:avLst/>
              <a:gdLst/>
              <a:ahLst/>
              <a:cxnLst/>
              <a:rect l="l" t="t" r="r" b="b"/>
              <a:pathLst>
                <a:path w="2013909" h="772577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732078"/>
                  </a:lnTo>
                  <a:cubicBezTo>
                    <a:pt x="2013909" y="754445"/>
                    <a:pt x="1995777" y="772577"/>
                    <a:pt x="1973410" y="772577"/>
                  </a:cubicBezTo>
                  <a:lnTo>
                    <a:pt x="40499" y="772577"/>
                  </a:lnTo>
                  <a:cubicBezTo>
                    <a:pt x="29758" y="772577"/>
                    <a:pt x="19457" y="768310"/>
                    <a:pt x="11862" y="760715"/>
                  </a:cubicBezTo>
                  <a:cubicBezTo>
                    <a:pt x="4267" y="753120"/>
                    <a:pt x="0" y="742819"/>
                    <a:pt x="0" y="732078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EF3F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13909" cy="810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6131370"/>
            <a:ext cx="7720542" cy="2608001"/>
            <a:chOff x="0" y="0"/>
            <a:chExt cx="2033394" cy="6868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33394" cy="686881"/>
            </a:xfrm>
            <a:custGeom>
              <a:avLst/>
              <a:gdLst/>
              <a:ahLst/>
              <a:cxnLst/>
              <a:rect l="l" t="t" r="r" b="b"/>
              <a:pathLst>
                <a:path w="2033394" h="686881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646770"/>
                  </a:lnTo>
                  <a:cubicBezTo>
                    <a:pt x="2033394" y="657408"/>
                    <a:pt x="2029168" y="667610"/>
                    <a:pt x="2021646" y="675133"/>
                  </a:cubicBezTo>
                  <a:cubicBezTo>
                    <a:pt x="2014123" y="682655"/>
                    <a:pt x="2003921" y="686881"/>
                    <a:pt x="1993283" y="686881"/>
                  </a:cubicBezTo>
                  <a:lnTo>
                    <a:pt x="40111" y="686881"/>
                  </a:lnTo>
                  <a:cubicBezTo>
                    <a:pt x="17958" y="686881"/>
                    <a:pt x="0" y="668923"/>
                    <a:pt x="0" y="64677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EF3F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33394" cy="72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2770986"/>
            <a:ext cx="7720542" cy="2933379"/>
            <a:chOff x="0" y="0"/>
            <a:chExt cx="2033394" cy="7725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3394" cy="772577"/>
            </a:xfrm>
            <a:custGeom>
              <a:avLst/>
              <a:gdLst/>
              <a:ahLst/>
              <a:cxnLst/>
              <a:rect l="l" t="t" r="r" b="b"/>
              <a:pathLst>
                <a:path w="2033394" h="772577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732466"/>
                  </a:lnTo>
                  <a:cubicBezTo>
                    <a:pt x="2033394" y="754619"/>
                    <a:pt x="2015436" y="772577"/>
                    <a:pt x="1993283" y="772577"/>
                  </a:cubicBezTo>
                  <a:lnTo>
                    <a:pt x="40111" y="772577"/>
                  </a:lnTo>
                  <a:cubicBezTo>
                    <a:pt x="17958" y="772577"/>
                    <a:pt x="0" y="754619"/>
                    <a:pt x="0" y="732466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EF3F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33394" cy="810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95318" y="3709035"/>
            <a:ext cx="6746051" cy="186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During a team discussion, meeting, or decision where collaboration matters.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0F4F5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It can also be used as a quick reminder when the team feels stuck, misaligned, or talking in circles.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0F4F5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95318" y="3141060"/>
            <a:ext cx="23407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to use 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67868" y="1243330"/>
            <a:ext cx="4391432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567F5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(3-5 minutes)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6478" y="3709035"/>
            <a:ext cx="7233296" cy="124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Show the three common traps.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Invite the team to notice which one appears most often in your work.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Explore the small shift that could help the team catch it earlier.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26478" y="3141060"/>
            <a:ext cx="23407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it works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78955" y="7069419"/>
            <a:ext cx="6746051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Naming common traps helps teams spot them sooner and make small adjustments that improve how people work together.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8955" y="6501444"/>
            <a:ext cx="23407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helps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31245" y="7052417"/>
            <a:ext cx="6746051" cy="124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Keep the tone curious, not critical.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The goal is not about analysing behaviours but to notice patterns and try small shifts.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0F4F5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631245" y="6484441"/>
            <a:ext cx="23407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8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819577"/>
            <a:ext cx="18288000" cy="10096914"/>
            <a:chOff x="0" y="0"/>
            <a:chExt cx="4816593" cy="26592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59270"/>
            </a:xfrm>
            <a:custGeom>
              <a:avLst/>
              <a:gdLst/>
              <a:ahLst/>
              <a:cxnLst/>
              <a:rect l="l" t="t" r="r" b="b"/>
              <a:pathLst>
                <a:path w="4816592" h="2659270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616936"/>
                  </a:lnTo>
                  <a:cubicBezTo>
                    <a:pt x="4816592" y="2628164"/>
                    <a:pt x="4812132" y="2638932"/>
                    <a:pt x="4804193" y="2646871"/>
                  </a:cubicBezTo>
                  <a:cubicBezTo>
                    <a:pt x="4796254" y="2654810"/>
                    <a:pt x="4785487" y="2659270"/>
                    <a:pt x="4774259" y="2659270"/>
                  </a:cubicBezTo>
                  <a:lnTo>
                    <a:pt x="42333" y="2659270"/>
                  </a:lnTo>
                  <a:cubicBezTo>
                    <a:pt x="31106" y="2659270"/>
                    <a:pt x="20338" y="2654810"/>
                    <a:pt x="12399" y="2646871"/>
                  </a:cubicBezTo>
                  <a:cubicBezTo>
                    <a:pt x="4460" y="2638932"/>
                    <a:pt x="0" y="2628164"/>
                    <a:pt x="0" y="261693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EF3F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697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081439" y="3454222"/>
            <a:ext cx="2777325" cy="2777325"/>
          </a:xfrm>
          <a:custGeom>
            <a:avLst/>
            <a:gdLst/>
            <a:ahLst/>
            <a:cxnLst/>
            <a:rect l="l" t="t" r="r" b="b"/>
            <a:pathLst>
              <a:path w="2777325" h="2777325">
                <a:moveTo>
                  <a:pt x="0" y="0"/>
                </a:moveTo>
                <a:lnTo>
                  <a:pt x="2777325" y="0"/>
                </a:lnTo>
                <a:lnTo>
                  <a:pt x="2777325" y="2777325"/>
                </a:lnTo>
                <a:lnTo>
                  <a:pt x="0" y="2777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7699870" y="3454222"/>
            <a:ext cx="2777325" cy="2777325"/>
          </a:xfrm>
          <a:custGeom>
            <a:avLst/>
            <a:gdLst/>
            <a:ahLst/>
            <a:cxnLst/>
            <a:rect l="l" t="t" r="r" b="b"/>
            <a:pathLst>
              <a:path w="2777325" h="2777325">
                <a:moveTo>
                  <a:pt x="0" y="0"/>
                </a:moveTo>
                <a:lnTo>
                  <a:pt x="2777326" y="0"/>
                </a:lnTo>
                <a:lnTo>
                  <a:pt x="2777326" y="2777325"/>
                </a:lnTo>
                <a:lnTo>
                  <a:pt x="0" y="277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3315646" y="3454222"/>
            <a:ext cx="2777325" cy="2777325"/>
          </a:xfrm>
          <a:custGeom>
            <a:avLst/>
            <a:gdLst/>
            <a:ahLst/>
            <a:cxnLst/>
            <a:rect l="l" t="t" r="r" b="b"/>
            <a:pathLst>
              <a:path w="2777325" h="2777325">
                <a:moveTo>
                  <a:pt x="0" y="0"/>
                </a:moveTo>
                <a:lnTo>
                  <a:pt x="2777325" y="0"/>
                </a:lnTo>
                <a:lnTo>
                  <a:pt x="2777325" y="2777325"/>
                </a:lnTo>
                <a:lnTo>
                  <a:pt x="0" y="2777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911125" y="365125"/>
            <a:ext cx="1646574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0F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Common traps that affect collaboration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5785" y="6380548"/>
            <a:ext cx="417763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Assuming instead of checking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1035" y="6886639"/>
            <a:ext cx="3538298" cy="11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We move forward based on what we think others meant, without confirming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43379" y="6380548"/>
            <a:ext cx="5713651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Listening to respond, not to understand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b="1">
              <a:solidFill>
                <a:srgbClr val="0F4F58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09249" y="6933167"/>
            <a:ext cx="3538298" cy="87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People focus on preparing their reply rather than fully hearing the other person.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1752" y="2017398"/>
            <a:ext cx="15872298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Which of these feels familiar?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6667" y="8548434"/>
            <a:ext cx="417763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Small shift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1035" y="8998474"/>
            <a:ext cx="3538298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Pause and ask: “Is this what you meant?”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89582" y="8512787"/>
            <a:ext cx="417763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Small shift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53950" y="8962826"/>
            <a:ext cx="3538298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Pause and summarise what you heard before adding your view.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07701" y="6380548"/>
            <a:ext cx="4551599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Silence when something feels off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b="1">
              <a:solidFill>
                <a:srgbClr val="0F4F58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987651" y="6954757"/>
            <a:ext cx="3538298" cy="57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People notice misalignment but hesitate to raise it.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23283" y="8548434"/>
            <a:ext cx="417763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Small shift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87651" y="8998474"/>
            <a:ext cx="3538298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Name the tension early, even briefly.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Macintosh PowerPoint</Application>
  <PresentationFormat>Custom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Open Sans Light</vt:lpstr>
      <vt:lpstr>Open Sans Semi-Bold</vt:lpstr>
      <vt:lpstr>IBM Plex Sans Bold Italics</vt:lpstr>
      <vt:lpstr>Open Sans</vt:lpstr>
      <vt:lpstr>IBM Plex Sans Medium</vt:lpstr>
      <vt:lpstr>IBM Plex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Simple Monthly Performance Report Presentation</dc:title>
  <cp:lastModifiedBy>Natalia Sanz</cp:lastModifiedBy>
  <cp:revision>4</cp:revision>
  <dcterms:created xsi:type="dcterms:W3CDTF">2006-08-16T00:00:00Z</dcterms:created>
  <dcterms:modified xsi:type="dcterms:W3CDTF">2026-03-07T17:30:19Z</dcterms:modified>
  <dc:identifier>DAHDKcauFmM</dc:identifier>
</cp:coreProperties>
</file>