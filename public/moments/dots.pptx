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8288000" cy="10287000"/>
  <p:notesSz cx="6858000" cy="9144000"/>
  <p:embeddedFontLst>
    <p:embeddedFont>
      <p:font typeface="IBM Plex Sans Bold Italics" charset="1" panose="020B0803050203000203"/>
      <p:regular r:id="rId9"/>
    </p:embeddedFont>
    <p:embeddedFont>
      <p:font typeface="Open Sans Light" charset="1" panose="00000000000000000000"/>
      <p:regular r:id="rId10"/>
    </p:embeddedFont>
    <p:embeddedFont>
      <p:font typeface="Open Sans Semi-Bold" charset="1" panose="00000000000000000000"/>
      <p:regular r:id="rId11"/>
    </p:embeddedFont>
    <p:embeddedFont>
      <p:font typeface="IBM Plex Sans Medium" charset="1" panose="020B0603050203000203"/>
      <p:regular r:id="rId12"/>
    </p:embeddedFont>
    <p:embeddedFont>
      <p:font typeface="Open Sans" charset="1" panose="00000000000000000000"/>
      <p:regular r:id="rId13"/>
    </p:embeddedFont>
    <p:embeddedFont>
      <p:font typeface="IBM Plex Sans" charset="1" panose="020B05030502030002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7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799736" y="1028700"/>
            <a:ext cx="7670524" cy="10096914"/>
            <a:chOff x="0" y="0"/>
            <a:chExt cx="2020220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20220" cy="2659270"/>
            </a:xfrm>
            <a:custGeom>
              <a:avLst/>
              <a:gdLst/>
              <a:ahLst/>
              <a:cxnLst/>
              <a:rect r="r" b="b" t="t" l="l"/>
              <a:pathLst>
                <a:path h="2659270" w="2020220">
                  <a:moveTo>
                    <a:pt x="100931" y="0"/>
                  </a:moveTo>
                  <a:lnTo>
                    <a:pt x="1919289" y="0"/>
                  </a:lnTo>
                  <a:cubicBezTo>
                    <a:pt x="1975032" y="0"/>
                    <a:pt x="2020220" y="45188"/>
                    <a:pt x="2020220" y="100931"/>
                  </a:cubicBezTo>
                  <a:lnTo>
                    <a:pt x="2020220" y="2558339"/>
                  </a:lnTo>
                  <a:cubicBezTo>
                    <a:pt x="2020220" y="2585107"/>
                    <a:pt x="2009587" y="2610780"/>
                    <a:pt x="1990658" y="2629708"/>
                  </a:cubicBezTo>
                  <a:cubicBezTo>
                    <a:pt x="1971730" y="2648636"/>
                    <a:pt x="1946058" y="2659270"/>
                    <a:pt x="1919289" y="2659270"/>
                  </a:cubicBezTo>
                  <a:lnTo>
                    <a:pt x="100931" y="2659270"/>
                  </a:lnTo>
                  <a:cubicBezTo>
                    <a:pt x="45188" y="2659270"/>
                    <a:pt x="0" y="2614081"/>
                    <a:pt x="0" y="2558339"/>
                  </a:cubicBezTo>
                  <a:lnTo>
                    <a:pt x="0" y="100931"/>
                  </a:lnTo>
                  <a:cubicBezTo>
                    <a:pt x="0" y="45188"/>
                    <a:pt x="45188" y="0"/>
                    <a:pt x="100931" y="0"/>
                  </a:cubicBez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20220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4076381"/>
            <a:ext cx="11519791" cy="184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9"/>
              </a:lnSpc>
            </a:pPr>
            <a:r>
              <a:rPr lang="en-US" b="true" sz="129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Join the Dots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6504701" y="6955669"/>
            <a:ext cx="754599" cy="160261"/>
            <a:chOff x="0" y="0"/>
            <a:chExt cx="198742" cy="422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567F5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5636292" y="6955669"/>
            <a:ext cx="754599" cy="160261"/>
            <a:chOff x="0" y="0"/>
            <a:chExt cx="198742" cy="422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567F5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67884" y="6955669"/>
            <a:ext cx="754599" cy="160261"/>
            <a:chOff x="0" y="0"/>
            <a:chExt cx="198742" cy="422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8742" cy="42209"/>
            </a:xfrm>
            <a:custGeom>
              <a:avLst/>
              <a:gdLst/>
              <a:ahLst/>
              <a:cxnLst/>
              <a:rect r="r" b="b" t="t" l="l"/>
              <a:pathLst>
                <a:path h="42209" w="198742">
                  <a:moveTo>
                    <a:pt x="0" y="0"/>
                  </a:moveTo>
                  <a:lnTo>
                    <a:pt x="198742" y="0"/>
                  </a:lnTo>
                  <a:lnTo>
                    <a:pt x="198742" y="42209"/>
                  </a:lnTo>
                  <a:lnTo>
                    <a:pt x="0" y="42209"/>
                  </a:lnTo>
                  <a:close/>
                </a:path>
              </a:pathLst>
            </a:custGeom>
            <a:solidFill>
              <a:srgbClr val="567F55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98742" cy="8030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205762" y="2026387"/>
            <a:ext cx="305353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FEF3F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A quick</a:t>
            </a:r>
            <a:r>
              <a:rPr lang="en-US" sz="2200">
                <a:solidFill>
                  <a:srgbClr val="FEF3F2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reminder to stay curious and look beyond our immediate view.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2025"/>
            <a:ext cx="585025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FEF3F2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Hi Humaniser! Moment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46723" y="7870690"/>
            <a:ext cx="3551520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19"/>
              </a:lnSpc>
              <a:spcBef>
                <a:spcPct val="0"/>
              </a:spcBef>
            </a:pPr>
            <a:r>
              <a:rPr lang="en-US" b="true" sz="2799" i="true">
                <a:solidFill>
                  <a:srgbClr val="FEF3F2"/>
                </a:solidFill>
                <a:latin typeface="IBM Plex Sans Bold Italics"/>
                <a:ea typeface="IBM Plex Sans Bold Italics"/>
                <a:cs typeface="IBM Plex Sans Bold Italics"/>
                <a:sym typeface="IBM Plex Sans Bold Italics"/>
              </a:rPr>
              <a:t>Small habits shape how teams work together.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438375">
            <a:off x="10382570" y="-411816"/>
            <a:ext cx="4834333" cy="4640960"/>
          </a:xfrm>
          <a:custGeom>
            <a:avLst/>
            <a:gdLst/>
            <a:ahLst/>
            <a:cxnLst/>
            <a:rect r="r" b="b" t="t" l="l"/>
            <a:pathLst>
              <a:path h="4640960" w="4834333">
                <a:moveTo>
                  <a:pt x="0" y="0"/>
                </a:moveTo>
                <a:lnTo>
                  <a:pt x="4834333" y="0"/>
                </a:lnTo>
                <a:lnTo>
                  <a:pt x="4834333" y="4640960"/>
                </a:lnTo>
                <a:lnTo>
                  <a:pt x="0" y="464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1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567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95350"/>
            <a:ext cx="11975571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0"/>
              </a:lnSpc>
              <a:spcBef>
                <a:spcPct val="0"/>
              </a:spcBef>
            </a:pPr>
            <a:r>
              <a:rPr lang="en-US" b="true" sz="7000">
                <a:solidFill>
                  <a:srgbClr val="FBE1D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Pause for Clarity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6528070"/>
            <a:ext cx="7646561" cy="2608001"/>
            <a:chOff x="0" y="0"/>
            <a:chExt cx="2013909" cy="68688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13909" cy="686881"/>
            </a:xfrm>
            <a:custGeom>
              <a:avLst/>
              <a:gdLst/>
              <a:ahLst/>
              <a:cxnLst/>
              <a:rect r="r" b="b" t="t" l="l"/>
              <a:pathLst>
                <a:path h="686881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646382"/>
                  </a:lnTo>
                  <a:cubicBezTo>
                    <a:pt x="2013909" y="657123"/>
                    <a:pt x="2009642" y="667424"/>
                    <a:pt x="2002047" y="675019"/>
                  </a:cubicBezTo>
                  <a:cubicBezTo>
                    <a:pt x="1994452" y="682614"/>
                    <a:pt x="1984151" y="686881"/>
                    <a:pt x="1973410" y="686881"/>
                  </a:cubicBezTo>
                  <a:lnTo>
                    <a:pt x="40499" y="686881"/>
                  </a:lnTo>
                  <a:cubicBezTo>
                    <a:pt x="18132" y="686881"/>
                    <a:pt x="0" y="668749"/>
                    <a:pt x="0" y="646382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13909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875524"/>
            <a:ext cx="7646561" cy="3361901"/>
            <a:chOff x="0" y="0"/>
            <a:chExt cx="2013909" cy="88543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3909" cy="885439"/>
            </a:xfrm>
            <a:custGeom>
              <a:avLst/>
              <a:gdLst/>
              <a:ahLst/>
              <a:cxnLst/>
              <a:rect r="r" b="b" t="t" l="l"/>
              <a:pathLst>
                <a:path h="885439" w="2013909">
                  <a:moveTo>
                    <a:pt x="40499" y="0"/>
                  </a:moveTo>
                  <a:lnTo>
                    <a:pt x="1973410" y="0"/>
                  </a:lnTo>
                  <a:cubicBezTo>
                    <a:pt x="1984151" y="0"/>
                    <a:pt x="1994452" y="4267"/>
                    <a:pt x="2002047" y="11862"/>
                  </a:cubicBezTo>
                  <a:cubicBezTo>
                    <a:pt x="2009642" y="19457"/>
                    <a:pt x="2013909" y="29758"/>
                    <a:pt x="2013909" y="40499"/>
                  </a:cubicBezTo>
                  <a:lnTo>
                    <a:pt x="2013909" y="844940"/>
                  </a:lnTo>
                  <a:cubicBezTo>
                    <a:pt x="2013909" y="867307"/>
                    <a:pt x="1995777" y="885439"/>
                    <a:pt x="1973410" y="885439"/>
                  </a:cubicBezTo>
                  <a:lnTo>
                    <a:pt x="40499" y="885439"/>
                  </a:lnTo>
                  <a:cubicBezTo>
                    <a:pt x="29758" y="885439"/>
                    <a:pt x="19457" y="881172"/>
                    <a:pt x="11862" y="873577"/>
                  </a:cubicBezTo>
                  <a:cubicBezTo>
                    <a:pt x="4267" y="865982"/>
                    <a:pt x="0" y="855681"/>
                    <a:pt x="0" y="844940"/>
                  </a:cubicBezTo>
                  <a:lnTo>
                    <a:pt x="0" y="40499"/>
                  </a:lnTo>
                  <a:cubicBezTo>
                    <a:pt x="0" y="29758"/>
                    <a:pt x="4267" y="19457"/>
                    <a:pt x="11862" y="11862"/>
                  </a:cubicBezTo>
                  <a:cubicBezTo>
                    <a:pt x="19457" y="4267"/>
                    <a:pt x="29758" y="0"/>
                    <a:pt x="40499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013909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6446975"/>
            <a:ext cx="7720542" cy="2608001"/>
            <a:chOff x="0" y="0"/>
            <a:chExt cx="2033394" cy="68688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33394" cy="686881"/>
            </a:xfrm>
            <a:custGeom>
              <a:avLst/>
              <a:gdLst/>
              <a:ahLst/>
              <a:cxnLst/>
              <a:rect r="r" b="b" t="t" l="l"/>
              <a:pathLst>
                <a:path h="686881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646770"/>
                  </a:lnTo>
                  <a:cubicBezTo>
                    <a:pt x="2033394" y="657408"/>
                    <a:pt x="2029168" y="667610"/>
                    <a:pt x="2021646" y="675133"/>
                  </a:cubicBezTo>
                  <a:cubicBezTo>
                    <a:pt x="2014123" y="682655"/>
                    <a:pt x="2003921" y="686881"/>
                    <a:pt x="1993283" y="686881"/>
                  </a:cubicBezTo>
                  <a:lnTo>
                    <a:pt x="40111" y="686881"/>
                  </a:lnTo>
                  <a:cubicBezTo>
                    <a:pt x="17958" y="686881"/>
                    <a:pt x="0" y="668923"/>
                    <a:pt x="0" y="646770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EF3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33394" cy="7249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144000" y="2770986"/>
            <a:ext cx="7720542" cy="3361901"/>
            <a:chOff x="0" y="0"/>
            <a:chExt cx="2033394" cy="88543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33394" cy="885439"/>
            </a:xfrm>
            <a:custGeom>
              <a:avLst/>
              <a:gdLst/>
              <a:ahLst/>
              <a:cxnLst/>
              <a:rect r="r" b="b" t="t" l="l"/>
              <a:pathLst>
                <a:path h="885439" w="2033394">
                  <a:moveTo>
                    <a:pt x="40111" y="0"/>
                  </a:moveTo>
                  <a:lnTo>
                    <a:pt x="1993283" y="0"/>
                  </a:lnTo>
                  <a:cubicBezTo>
                    <a:pt x="2015436" y="0"/>
                    <a:pt x="2033394" y="17958"/>
                    <a:pt x="2033394" y="40111"/>
                  </a:cubicBezTo>
                  <a:lnTo>
                    <a:pt x="2033394" y="845328"/>
                  </a:lnTo>
                  <a:cubicBezTo>
                    <a:pt x="2033394" y="867481"/>
                    <a:pt x="2015436" y="885439"/>
                    <a:pt x="1993283" y="885439"/>
                  </a:cubicBezTo>
                  <a:lnTo>
                    <a:pt x="40111" y="885439"/>
                  </a:lnTo>
                  <a:cubicBezTo>
                    <a:pt x="17958" y="885439"/>
                    <a:pt x="0" y="867481"/>
                    <a:pt x="0" y="845328"/>
                  </a:cubicBezTo>
                  <a:lnTo>
                    <a:pt x="0" y="40111"/>
                  </a:lnTo>
                  <a:cubicBezTo>
                    <a:pt x="0" y="17958"/>
                    <a:pt x="17958" y="0"/>
                    <a:pt x="40111" y="0"/>
                  </a:cubicBezTo>
                  <a:close/>
                </a:path>
              </a:pathLst>
            </a:custGeom>
            <a:solidFill>
              <a:srgbClr val="F5F0E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033394" cy="92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295318" y="3709035"/>
            <a:ext cx="6746051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At the start of a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 meeting where teams are exploring ideas, solving problems, or reviewing progress.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It helps bring a wider perspective before diving into the conversation.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29531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When to us</a:t>
            </a: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 it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25006" y="1164590"/>
            <a:ext cx="4391432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F8E1B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(3-5 minutes)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26478" y="3709035"/>
            <a:ext cx="6634290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Share the reminder about connecting perspectives and information.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Invite people to briefly consider what might sit outside their immediate view.</a:t>
            </a:r>
          </a:p>
          <a:p>
            <a:pPr algn="l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Continue the meeting with that curiosity in mind.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6478" y="3141060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How it works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78955" y="7385024"/>
            <a:ext cx="6746051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When teams 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stay focused only on their own part of the work, important connections can be missed. A moment of curiosity helps reveal patterns, risks or opportunities that might otherwise stay hidden.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478955" y="6817049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Why it helps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631245" y="7368022"/>
            <a:ext cx="6746051" cy="1554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Cu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riosi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ty often starts with one simple question.</a:t>
            </a: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Som</a:t>
            </a: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etimes the most useful prompt is:</a:t>
            </a:r>
          </a:p>
          <a:p>
            <a:pPr algn="l">
              <a:lnSpc>
                <a:spcPts val="2520"/>
              </a:lnSpc>
            </a:pPr>
          </a:p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F4F58"/>
                </a:solidFill>
                <a:latin typeface="Open Sans"/>
                <a:ea typeface="Open Sans"/>
                <a:cs typeface="Open Sans"/>
                <a:sym typeface="Open Sans"/>
              </a:rPr>
              <a:t>“What might we be missing?”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631245" y="6800046"/>
            <a:ext cx="23407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b="true" sz="2400">
                <a:solidFill>
                  <a:srgbClr val="0F4F58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Tips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567F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927377"/>
            <a:ext cx="18288000" cy="10096914"/>
            <a:chOff x="0" y="0"/>
            <a:chExt cx="4816593" cy="265927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659270"/>
            </a:xfrm>
            <a:custGeom>
              <a:avLst/>
              <a:gdLst/>
              <a:ahLst/>
              <a:cxnLst/>
              <a:rect r="r" b="b" t="t" l="l"/>
              <a:pathLst>
                <a:path h="2659270" w="4816592">
                  <a:moveTo>
                    <a:pt x="42333" y="0"/>
                  </a:moveTo>
                  <a:lnTo>
                    <a:pt x="4774259" y="0"/>
                  </a:lnTo>
                  <a:cubicBezTo>
                    <a:pt x="4785487" y="0"/>
                    <a:pt x="4796254" y="4460"/>
                    <a:pt x="4804193" y="12399"/>
                  </a:cubicBezTo>
                  <a:cubicBezTo>
                    <a:pt x="4812132" y="20338"/>
                    <a:pt x="4816592" y="31106"/>
                    <a:pt x="4816592" y="42333"/>
                  </a:cubicBezTo>
                  <a:lnTo>
                    <a:pt x="4816592" y="2616936"/>
                  </a:lnTo>
                  <a:cubicBezTo>
                    <a:pt x="4816592" y="2628164"/>
                    <a:pt x="4812132" y="2638932"/>
                    <a:pt x="4804193" y="2646871"/>
                  </a:cubicBezTo>
                  <a:cubicBezTo>
                    <a:pt x="4796254" y="2654810"/>
                    <a:pt x="4785487" y="2659270"/>
                    <a:pt x="4774259" y="2659270"/>
                  </a:cubicBezTo>
                  <a:lnTo>
                    <a:pt x="42333" y="2659270"/>
                  </a:lnTo>
                  <a:cubicBezTo>
                    <a:pt x="31106" y="2659270"/>
                    <a:pt x="20338" y="2654810"/>
                    <a:pt x="12399" y="2646871"/>
                  </a:cubicBezTo>
                  <a:cubicBezTo>
                    <a:pt x="4460" y="2638932"/>
                    <a:pt x="0" y="2628164"/>
                    <a:pt x="0" y="2616936"/>
                  </a:cubicBezTo>
                  <a:lnTo>
                    <a:pt x="0" y="42333"/>
                  </a:lnTo>
                  <a:cubicBezTo>
                    <a:pt x="0" y="31106"/>
                    <a:pt x="4460" y="20338"/>
                    <a:pt x="12399" y="12399"/>
                  </a:cubicBezTo>
                  <a:cubicBezTo>
                    <a:pt x="20338" y="4460"/>
                    <a:pt x="31106" y="0"/>
                    <a:pt x="42333" y="0"/>
                  </a:cubicBezTo>
                  <a:close/>
                </a:path>
              </a:pathLst>
            </a:custGeom>
            <a:solidFill>
              <a:srgbClr val="0F4F58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6973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5400000">
            <a:off x="6717205" y="6912451"/>
            <a:ext cx="5337496" cy="126766"/>
          </a:xfrm>
          <a:custGeom>
            <a:avLst/>
            <a:gdLst/>
            <a:ahLst/>
            <a:cxnLst/>
            <a:rect r="r" b="b" t="t" l="l"/>
            <a:pathLst>
              <a:path h="126766" w="5337496">
                <a:moveTo>
                  <a:pt x="0" y="0"/>
                </a:moveTo>
                <a:lnTo>
                  <a:pt x="5337496" y="0"/>
                </a:lnTo>
                <a:lnTo>
                  <a:pt x="5337496" y="126766"/>
                </a:lnTo>
                <a:lnTo>
                  <a:pt x="0" y="12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26520">
            <a:off x="13969522" y="523106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85013" y="365125"/>
            <a:ext cx="141179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  <a:spcBef>
                <a:spcPct val="0"/>
              </a:spcBef>
            </a:pPr>
            <a:r>
              <a:rPr lang="en-US" sz="7000">
                <a:solidFill>
                  <a:srgbClr val="FEF3F2"/>
                </a:solidFill>
                <a:latin typeface="IBM Plex Sans"/>
                <a:ea typeface="IBM Plex Sans"/>
                <a:cs typeface="IBM Plex Sans"/>
                <a:sym typeface="IBM Plex Sans"/>
              </a:rPr>
              <a:t>Join the Dots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8113" y="2299878"/>
            <a:ext cx="16685992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b="true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In complex environments, the full picture is rarely visible from one perspective. </a:t>
            </a:r>
            <a:r>
              <a:rPr lang="en-US" sz="3599" b="true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Sometimes the most valuable insights appear when someone connects pieces others didn’t see.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485778" y="5457967"/>
            <a:ext cx="628986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few w</a:t>
            </a:r>
            <a:r>
              <a:rPr lang="en-US" b="true" sz="34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ays to look again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85778" y="6208303"/>
            <a:ext cx="6988327" cy="291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Is</a:t>
            </a: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 there another perspective we haven’t heard yet?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Does this connect to something </a:t>
            </a: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happening elsewhere?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What assumptions are we making?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FEF3F2"/>
                </a:solidFill>
                <a:latin typeface="Open Sans"/>
                <a:ea typeface="Open Sans"/>
                <a:cs typeface="Open Sans"/>
                <a:sym typeface="Open Sans"/>
              </a:rPr>
              <a:t>What would someone outside this conversation notice?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70191" y="5589814"/>
            <a:ext cx="6289867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EF3F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 question worth asking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71731" y="6233794"/>
            <a:ext cx="7112615" cy="222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>
                <a:solidFill>
                  <a:srgbClr val="E6A757"/>
                </a:solidFill>
                <a:latin typeface="Open Sans"/>
                <a:ea typeface="Open Sans"/>
                <a:cs typeface="Open Sans"/>
                <a:sym typeface="Open Sans"/>
              </a:rPr>
              <a:t>What mig</a:t>
            </a:r>
            <a:r>
              <a:rPr lang="en-US" sz="6399">
                <a:solidFill>
                  <a:srgbClr val="E6A757"/>
                </a:solidFill>
                <a:latin typeface="Open Sans"/>
                <a:ea typeface="Open Sans"/>
                <a:cs typeface="Open Sans"/>
                <a:sym typeface="Open Sans"/>
              </a:rPr>
              <a:t>ht we be missing?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DAHDKcauFmM</dc:identifier>
  <dcterms:modified xsi:type="dcterms:W3CDTF">2011-08-01T06:04:30Z</dcterms:modified>
  <cp:revision>1</cp:revision>
  <dc:title>Yellow Simple Monthly Performance Report Presentation</dc:title>
</cp:coreProperties>
</file>