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IBM Plex Sans Bold Italics" charset="1" panose="020B0803050203000203"/>
      <p:regular r:id="rId9"/>
    </p:embeddedFont>
    <p:embeddedFont>
      <p:font typeface="Open Sans Light" charset="1" panose="00000000000000000000"/>
      <p:regular r:id="rId10"/>
    </p:embeddedFont>
    <p:embeddedFont>
      <p:font typeface="Open Sans Semi-Bold" charset="1" panose="00000000000000000000"/>
      <p:regular r:id="rId11"/>
    </p:embeddedFont>
    <p:embeddedFont>
      <p:font typeface="IBM Plex Sans Medium" charset="1" panose="020B0603050203000203"/>
      <p:regular r:id="rId12"/>
    </p:embeddedFont>
    <p:embeddedFont>
      <p:font typeface="Open Sans" charset="1" panose="00000000000000000000"/>
      <p:regular r:id="rId13"/>
    </p:embeddedFont>
    <p:embeddedFont>
      <p:font typeface="IBM Plex Sans Bold" charset="1" panose="020B0803050203000203"/>
      <p:regular r:id="rId14"/>
    </p:embeddedFont>
    <p:embeddedFont>
      <p:font typeface="Open Sans Bold" charset="1" panose="00000000000000000000"/>
      <p:regular r:id="rId15"/>
    </p:embeddedFont>
    <p:embeddedFont>
      <p:font typeface="IBM Plex Sans" charset="1" panose="020B05030502030002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99736" y="1028700"/>
            <a:ext cx="7670524" cy="10096914"/>
            <a:chOff x="0" y="0"/>
            <a:chExt cx="2020220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220" cy="2659270"/>
            </a:xfrm>
            <a:custGeom>
              <a:avLst/>
              <a:gdLst/>
              <a:ahLst/>
              <a:cxnLst/>
              <a:rect r="r" b="b" t="t" l="l"/>
              <a:pathLst>
                <a:path h="2659270" w="2020220">
                  <a:moveTo>
                    <a:pt x="100931" y="0"/>
                  </a:moveTo>
                  <a:lnTo>
                    <a:pt x="1919289" y="0"/>
                  </a:lnTo>
                  <a:cubicBezTo>
                    <a:pt x="1975032" y="0"/>
                    <a:pt x="2020220" y="45188"/>
                    <a:pt x="2020220" y="100931"/>
                  </a:cubicBezTo>
                  <a:lnTo>
                    <a:pt x="2020220" y="2558339"/>
                  </a:lnTo>
                  <a:cubicBezTo>
                    <a:pt x="2020220" y="2585107"/>
                    <a:pt x="2009587" y="2610780"/>
                    <a:pt x="1990658" y="2629708"/>
                  </a:cubicBezTo>
                  <a:cubicBezTo>
                    <a:pt x="1971730" y="2648636"/>
                    <a:pt x="1946058" y="2659270"/>
                    <a:pt x="1919289" y="2659270"/>
                  </a:cubicBezTo>
                  <a:lnTo>
                    <a:pt x="100931" y="2659270"/>
                  </a:lnTo>
                  <a:cubicBezTo>
                    <a:pt x="45188" y="2659270"/>
                    <a:pt x="0" y="2614081"/>
                    <a:pt x="0" y="2558339"/>
                  </a:cubicBezTo>
                  <a:lnTo>
                    <a:pt x="0" y="100931"/>
                  </a:lnTo>
                  <a:cubicBezTo>
                    <a:pt x="0" y="45188"/>
                    <a:pt x="45188" y="0"/>
                    <a:pt x="100931" y="0"/>
                  </a:cubicBezTo>
                  <a:close/>
                </a:path>
              </a:pathLst>
            </a:custGeom>
            <a:solidFill>
              <a:srgbClr val="F5C88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0220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650523"/>
            <a:ext cx="11388532" cy="365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9"/>
              </a:lnSpc>
            </a:pPr>
            <a:r>
              <a:rPr lang="en-US" sz="12999" i="true" b="true">
                <a:solidFill>
                  <a:srgbClr val="0F4F58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What Could </a:t>
            </a:r>
          </a:p>
          <a:p>
            <a:pPr algn="l">
              <a:lnSpc>
                <a:spcPts val="14299"/>
              </a:lnSpc>
            </a:pPr>
            <a:r>
              <a:rPr lang="en-US" sz="12999" i="true" b="true">
                <a:solidFill>
                  <a:srgbClr val="0F4F58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Go Wrong?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504701" y="6955669"/>
            <a:ext cx="754599" cy="160261"/>
            <a:chOff x="0" y="0"/>
            <a:chExt cx="198742" cy="42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F5F0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36292" y="6955669"/>
            <a:ext cx="754599" cy="160261"/>
            <a:chOff x="0" y="0"/>
            <a:chExt cx="198742" cy="42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F5F0E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67884" y="6955669"/>
            <a:ext cx="754599" cy="160261"/>
            <a:chOff x="0" y="0"/>
            <a:chExt cx="198742" cy="422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F5F0E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205762" y="2026387"/>
            <a:ext cx="305353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</a:t>
            </a: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reminder t</a:t>
            </a: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 think beyond the plan and imagine what could get in the way.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62025"/>
            <a:ext cx="585025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F4F58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Hi Humaniser! Moment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46723" y="7870690"/>
            <a:ext cx="355152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0F4F58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Small habits shape how teams work together.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717054">
            <a:off x="10924155" y="52305"/>
            <a:ext cx="4834333" cy="4640960"/>
          </a:xfrm>
          <a:custGeom>
            <a:avLst/>
            <a:gdLst/>
            <a:ahLst/>
            <a:cxnLst/>
            <a:rect r="r" b="b" t="t" l="l"/>
            <a:pathLst>
              <a:path h="4640960" w="4834333">
                <a:moveTo>
                  <a:pt x="0" y="0"/>
                </a:moveTo>
                <a:lnTo>
                  <a:pt x="4834333" y="0"/>
                </a:lnTo>
                <a:lnTo>
                  <a:pt x="4834333" y="4640959"/>
                </a:lnTo>
                <a:lnTo>
                  <a:pt x="0" y="4640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C8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197557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b="true" sz="7000">
                <a:solidFill>
                  <a:srgbClr val="276B6B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to r</a:t>
            </a:r>
            <a:r>
              <a:rPr lang="en-US" b="true" sz="7000">
                <a:solidFill>
                  <a:srgbClr val="276B6B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un this HH! Moment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6212465"/>
            <a:ext cx="7646561" cy="2608001"/>
            <a:chOff x="0" y="0"/>
            <a:chExt cx="2013909" cy="68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909" cy="686881"/>
            </a:xfrm>
            <a:custGeom>
              <a:avLst/>
              <a:gdLst/>
              <a:ahLst/>
              <a:cxnLst/>
              <a:rect r="r" b="b" t="t" l="l"/>
              <a:pathLst>
                <a:path h="686881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646382"/>
                  </a:lnTo>
                  <a:cubicBezTo>
                    <a:pt x="2013909" y="657123"/>
                    <a:pt x="2009642" y="667424"/>
                    <a:pt x="2002047" y="675019"/>
                  </a:cubicBezTo>
                  <a:cubicBezTo>
                    <a:pt x="1994452" y="682614"/>
                    <a:pt x="1984151" y="686881"/>
                    <a:pt x="1973410" y="686881"/>
                  </a:cubicBezTo>
                  <a:lnTo>
                    <a:pt x="40499" y="686881"/>
                  </a:lnTo>
                  <a:cubicBezTo>
                    <a:pt x="18132" y="686881"/>
                    <a:pt x="0" y="668749"/>
                    <a:pt x="0" y="64638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5F0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3909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862199"/>
            <a:ext cx="7646561" cy="2933379"/>
            <a:chOff x="0" y="0"/>
            <a:chExt cx="2013909" cy="7725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3909" cy="772577"/>
            </a:xfrm>
            <a:custGeom>
              <a:avLst/>
              <a:gdLst/>
              <a:ahLst/>
              <a:cxnLst/>
              <a:rect r="r" b="b" t="t" l="l"/>
              <a:pathLst>
                <a:path h="772577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732078"/>
                  </a:lnTo>
                  <a:cubicBezTo>
                    <a:pt x="2013909" y="754445"/>
                    <a:pt x="1995777" y="772577"/>
                    <a:pt x="1973410" y="772577"/>
                  </a:cubicBezTo>
                  <a:lnTo>
                    <a:pt x="40499" y="772577"/>
                  </a:lnTo>
                  <a:cubicBezTo>
                    <a:pt x="29758" y="772577"/>
                    <a:pt x="19457" y="768310"/>
                    <a:pt x="11862" y="760715"/>
                  </a:cubicBezTo>
                  <a:cubicBezTo>
                    <a:pt x="4267" y="753120"/>
                    <a:pt x="0" y="742819"/>
                    <a:pt x="0" y="732078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3909" cy="81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6131370"/>
            <a:ext cx="7720542" cy="2608001"/>
            <a:chOff x="0" y="0"/>
            <a:chExt cx="2033394" cy="686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3394" cy="686881"/>
            </a:xfrm>
            <a:custGeom>
              <a:avLst/>
              <a:gdLst/>
              <a:ahLst/>
              <a:cxnLst/>
              <a:rect r="r" b="b" t="t" l="l"/>
              <a:pathLst>
                <a:path h="686881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646770"/>
                  </a:lnTo>
                  <a:cubicBezTo>
                    <a:pt x="2033394" y="657408"/>
                    <a:pt x="2029168" y="667610"/>
                    <a:pt x="2021646" y="675133"/>
                  </a:cubicBezTo>
                  <a:cubicBezTo>
                    <a:pt x="2014123" y="682655"/>
                    <a:pt x="2003921" y="686881"/>
                    <a:pt x="1993283" y="686881"/>
                  </a:cubicBezTo>
                  <a:lnTo>
                    <a:pt x="40111" y="686881"/>
                  </a:lnTo>
                  <a:cubicBezTo>
                    <a:pt x="17958" y="686881"/>
                    <a:pt x="0" y="668923"/>
                    <a:pt x="0" y="64677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33394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2770986"/>
            <a:ext cx="7720542" cy="2933379"/>
            <a:chOff x="0" y="0"/>
            <a:chExt cx="2033394" cy="7725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3394" cy="772577"/>
            </a:xfrm>
            <a:custGeom>
              <a:avLst/>
              <a:gdLst/>
              <a:ahLst/>
              <a:cxnLst/>
              <a:rect r="r" b="b" t="t" l="l"/>
              <a:pathLst>
                <a:path h="772577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732466"/>
                  </a:lnTo>
                  <a:cubicBezTo>
                    <a:pt x="2033394" y="754619"/>
                    <a:pt x="2015436" y="772577"/>
                    <a:pt x="1993283" y="772577"/>
                  </a:cubicBezTo>
                  <a:lnTo>
                    <a:pt x="40111" y="772577"/>
                  </a:lnTo>
                  <a:cubicBezTo>
                    <a:pt x="17958" y="772577"/>
                    <a:pt x="0" y="754619"/>
                    <a:pt x="0" y="732466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33394" cy="81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95318" y="3709035"/>
            <a:ext cx="7160692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At the sta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rt of meetings where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teams are discussing plans, decisions, projects, or new ideas.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 works especially well when people are moving quickly or working across different teams and perspectives.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531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When to us</a:t>
            </a: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 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7868" y="1243330"/>
            <a:ext cx="439143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567F55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(3-5 minutes)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6478" y="3709035"/>
            <a:ext cx="7233296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troduc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e the idea of anticipatory thinking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Encourage curiosity beyond immediate t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asks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Invi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te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peopl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e to consider possible blind spots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647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it works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8955" y="7069419"/>
            <a:ext cx="6746051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Te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ams naturally focus on delivery and immediate priorities.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This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moment encourages people to step back briefly and consider risks, dependencies, or unintended consequences before problems emerge.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78955" y="6501444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helps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1245" y="7052417"/>
            <a:ext cx="6746051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The goal is not to create fear or pessimism.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It’s simply to encourage broader thinking before moving forward.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631245" y="6484441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Tips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C8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819577"/>
            <a:ext cx="18288000" cy="10096914"/>
            <a:chOff x="0" y="0"/>
            <a:chExt cx="4816593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59270"/>
            </a:xfrm>
            <a:custGeom>
              <a:avLst/>
              <a:gdLst/>
              <a:ahLst/>
              <a:cxnLst/>
              <a:rect r="r" b="b" t="t" l="l"/>
              <a:pathLst>
                <a:path h="2659270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616936"/>
                  </a:lnTo>
                  <a:cubicBezTo>
                    <a:pt x="4816592" y="2628164"/>
                    <a:pt x="4812132" y="2638932"/>
                    <a:pt x="4804193" y="2646871"/>
                  </a:cubicBezTo>
                  <a:cubicBezTo>
                    <a:pt x="4796254" y="2654810"/>
                    <a:pt x="4785487" y="2659270"/>
                    <a:pt x="4774259" y="2659270"/>
                  </a:cubicBezTo>
                  <a:lnTo>
                    <a:pt x="42333" y="2659270"/>
                  </a:lnTo>
                  <a:cubicBezTo>
                    <a:pt x="31106" y="2659270"/>
                    <a:pt x="20338" y="2654810"/>
                    <a:pt x="12399" y="2646871"/>
                  </a:cubicBezTo>
                  <a:cubicBezTo>
                    <a:pt x="4460" y="2638932"/>
                    <a:pt x="0" y="2628164"/>
                    <a:pt x="0" y="261693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352936">
            <a:off x="6685406" y="2233425"/>
            <a:ext cx="1544720" cy="2566755"/>
          </a:xfrm>
          <a:custGeom>
            <a:avLst/>
            <a:gdLst/>
            <a:ahLst/>
            <a:cxnLst/>
            <a:rect r="r" b="b" t="t" l="l"/>
            <a:pathLst>
              <a:path h="2566755" w="1544720">
                <a:moveTo>
                  <a:pt x="0" y="0"/>
                </a:moveTo>
                <a:lnTo>
                  <a:pt x="1544720" y="0"/>
                </a:lnTo>
                <a:lnTo>
                  <a:pt x="1544720" y="2566755"/>
                </a:lnTo>
                <a:lnTo>
                  <a:pt x="0" y="2566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94674">
            <a:off x="14038352" y="241311"/>
            <a:ext cx="3246368" cy="5102346"/>
          </a:xfrm>
          <a:custGeom>
            <a:avLst/>
            <a:gdLst/>
            <a:ahLst/>
            <a:cxnLst/>
            <a:rect r="r" b="b" t="t" l="l"/>
            <a:pathLst>
              <a:path h="5102346" w="3246368">
                <a:moveTo>
                  <a:pt x="0" y="0"/>
                </a:moveTo>
                <a:lnTo>
                  <a:pt x="3246368" y="0"/>
                </a:lnTo>
                <a:lnTo>
                  <a:pt x="3246368" y="5102347"/>
                </a:lnTo>
                <a:lnTo>
                  <a:pt x="0" y="51023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1125" y="365125"/>
            <a:ext cx="16465749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b="true" sz="7000">
                <a:solidFill>
                  <a:srgbClr val="0F4F58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What could go wrong?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95937" y="8692389"/>
            <a:ext cx="1469612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276B6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Strong teams don’t only plan for success. </a:t>
            </a:r>
          </a:p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276B6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They also create space to explore risks, dependencies, and unintended consequences early.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28295" y="5891404"/>
            <a:ext cx="9172607" cy="189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76B6B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</a:t>
            </a:r>
            <a:r>
              <a:rPr lang="en-US" sz="2799">
                <a:solidFill>
                  <a:srgbClr val="276B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are we treating as “someone else’s problem”?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76B6B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are we assuming will happen smoothly?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76B6B"/>
                </a:solidFill>
                <a:latin typeface="IBM Plex Sans"/>
                <a:ea typeface="IBM Plex Sans"/>
                <a:cs typeface="IBM Plex Sans"/>
                <a:sym typeface="IBM Plex Sans"/>
              </a:rPr>
              <a:t>If this failed in six months, what might the reason be?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867573" y="4808631"/>
            <a:ext cx="7941896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5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Worth t</a:t>
            </a:r>
            <a:r>
              <a:rPr lang="en-US" sz="55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hinking about...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2783" y="2619626"/>
            <a:ext cx="5667869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4"/>
              </a:lnSpc>
            </a:pPr>
            <a:r>
              <a:rPr lang="en-US" sz="3299" b="true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Most</a:t>
            </a:r>
            <a:r>
              <a:rPr lang="en-US" sz="3299" b="true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teams spend a lot of time planning for success.</a:t>
            </a:r>
          </a:p>
          <a:p>
            <a:pPr algn="l">
              <a:lnSpc>
                <a:spcPts val="379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12783" y="3861529"/>
            <a:ext cx="6297259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76B6B"/>
                </a:solidFill>
                <a:latin typeface="Open Sans"/>
                <a:ea typeface="Open Sans"/>
                <a:cs typeface="Open Sans"/>
                <a:sym typeface="Open Sans"/>
              </a:rPr>
              <a:t>But many project problems only seem obvious once things start going wrong.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DAHDKcauFmM</dc:identifier>
  <dcterms:modified xsi:type="dcterms:W3CDTF">2011-08-01T06:04:30Z</dcterms:modified>
  <cp:revision>1</cp:revision>
  <dc:title>HH! Moments</dc:title>
</cp:coreProperties>
</file>