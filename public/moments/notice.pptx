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BM Plex Sans Bold Italics" charset="1" panose="020B0803050203000203"/>
      <p:regular r:id="rId9"/>
    </p:embeddedFont>
    <p:embeddedFont>
      <p:font typeface="Open Sans Light" charset="1" panose="00000000000000000000"/>
      <p:regular r:id="rId10"/>
    </p:embeddedFont>
    <p:embeddedFont>
      <p:font typeface="Open Sans Semi-Bold" charset="1" panose="00000000000000000000"/>
      <p:regular r:id="rId11"/>
    </p:embeddedFont>
    <p:embeddedFont>
      <p:font typeface="IBM Plex Sans Medium" charset="1" panose="020B0603050203000203"/>
      <p:regular r:id="rId12"/>
    </p:embeddedFont>
    <p:embeddedFont>
      <p:font typeface="Open Sans" charset="1" panose="00000000000000000000"/>
      <p:regular r:id="rId13"/>
    </p:embeddedFont>
    <p:embeddedFont>
      <p:font typeface="IBM Plex Sans" charset="1" panose="020B050305020300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736" y="1028700"/>
            <a:ext cx="7670524" cy="10096914"/>
            <a:chOff x="0" y="0"/>
            <a:chExt cx="2020220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220" cy="2659270"/>
            </a:xfrm>
            <a:custGeom>
              <a:avLst/>
              <a:gdLst/>
              <a:ahLst/>
              <a:cxnLst/>
              <a:rect r="r" b="b" t="t" l="l"/>
              <a:pathLst>
                <a:path h="2659270" w="202022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5C8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070196"/>
            <a:ext cx="11519791" cy="365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b="true" sz="129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Three Biases </a:t>
            </a:r>
          </a:p>
          <a:p>
            <a:pPr algn="l">
              <a:lnSpc>
                <a:spcPts val="14299"/>
              </a:lnSpc>
            </a:pPr>
            <a:r>
              <a:rPr lang="en-US" b="true" sz="129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to Notice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504701" y="6955669"/>
            <a:ext cx="754599" cy="160261"/>
            <a:chOff x="0" y="0"/>
            <a:chExt cx="198742" cy="42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36292" y="6955669"/>
            <a:ext cx="754599" cy="160261"/>
            <a:chOff x="0" y="0"/>
            <a:chExt cx="198742" cy="42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67884" y="6955669"/>
            <a:ext cx="754599" cy="160261"/>
            <a:chOff x="0" y="0"/>
            <a:chExt cx="198742" cy="42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950228" y="1870564"/>
            <a:ext cx="3581642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</a:t>
            </a: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is moment reminds us that our brains often rely on shortcuts. Those shortcuts help us move fast, but they can also influence how decisions are made in teams.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2025"/>
            <a:ext cx="58502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EF3F2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6723" y="7870690"/>
            <a:ext cx="355152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438375">
            <a:off x="10382570" y="-411816"/>
            <a:ext cx="4834333" cy="4640960"/>
          </a:xfrm>
          <a:custGeom>
            <a:avLst/>
            <a:gdLst/>
            <a:ahLst/>
            <a:cxnLst/>
            <a:rect r="r" b="b" t="t" l="l"/>
            <a:pathLst>
              <a:path h="4640960" w="4834333">
                <a:moveTo>
                  <a:pt x="0" y="0"/>
                </a:moveTo>
                <a:lnTo>
                  <a:pt x="4834333" y="0"/>
                </a:lnTo>
                <a:lnTo>
                  <a:pt x="4834333" y="4640960"/>
                </a:lnTo>
                <a:lnTo>
                  <a:pt x="0" y="464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197557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F5F0EB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Pause for Clarity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528070"/>
            <a:ext cx="7646561" cy="2608001"/>
            <a:chOff x="0" y="0"/>
            <a:chExt cx="2013909" cy="68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909" cy="686881"/>
            </a:xfrm>
            <a:custGeom>
              <a:avLst/>
              <a:gdLst/>
              <a:ahLst/>
              <a:cxnLst/>
              <a:rect r="r" b="b" t="t" l="l"/>
              <a:pathLst>
                <a:path h="68688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BE1D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75524"/>
            <a:ext cx="7646561" cy="3361901"/>
            <a:chOff x="0" y="0"/>
            <a:chExt cx="2013909" cy="8854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3909" cy="885439"/>
            </a:xfrm>
            <a:custGeom>
              <a:avLst/>
              <a:gdLst/>
              <a:ahLst/>
              <a:cxnLst/>
              <a:rect r="r" b="b" t="t" l="l"/>
              <a:pathLst>
                <a:path h="885439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844940"/>
                  </a:lnTo>
                  <a:cubicBezTo>
                    <a:pt x="2013909" y="867307"/>
                    <a:pt x="1995777" y="885439"/>
                    <a:pt x="1973410" y="885439"/>
                  </a:cubicBezTo>
                  <a:lnTo>
                    <a:pt x="40499" y="885439"/>
                  </a:lnTo>
                  <a:cubicBezTo>
                    <a:pt x="29758" y="885439"/>
                    <a:pt x="19457" y="881172"/>
                    <a:pt x="11862" y="873577"/>
                  </a:cubicBezTo>
                  <a:cubicBezTo>
                    <a:pt x="4267" y="865982"/>
                    <a:pt x="0" y="855681"/>
                    <a:pt x="0" y="844940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8E1B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3909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6446975"/>
            <a:ext cx="7720542" cy="2608001"/>
            <a:chOff x="0" y="0"/>
            <a:chExt cx="2033394" cy="68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3394" cy="686881"/>
            </a:xfrm>
            <a:custGeom>
              <a:avLst/>
              <a:gdLst/>
              <a:ahLst/>
              <a:cxnLst/>
              <a:rect r="r" b="b" t="t" l="l"/>
              <a:pathLst>
                <a:path h="68688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8E1B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770986"/>
            <a:ext cx="7720542" cy="3361901"/>
            <a:chOff x="0" y="0"/>
            <a:chExt cx="2033394" cy="8854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394" cy="885439"/>
            </a:xfrm>
            <a:custGeom>
              <a:avLst/>
              <a:gdLst/>
              <a:ahLst/>
              <a:cxnLst/>
              <a:rect r="r" b="b" t="t" l="l"/>
              <a:pathLst>
                <a:path h="885439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845328"/>
                  </a:lnTo>
                  <a:cubicBezTo>
                    <a:pt x="2033394" y="867481"/>
                    <a:pt x="2015436" y="885439"/>
                    <a:pt x="1993283" y="885439"/>
                  </a:cubicBezTo>
                  <a:lnTo>
                    <a:pt x="40111" y="885439"/>
                  </a:lnTo>
                  <a:cubicBezTo>
                    <a:pt x="17958" y="885439"/>
                    <a:pt x="0" y="867481"/>
                    <a:pt x="0" y="845328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3394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5318" y="3709035"/>
            <a:ext cx="6746051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At the start of 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meetings where ideas, decisions, or plans will be discussed.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It’s a short awareness moment to help teams notice how thinking patterns can influence conversations.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9531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</a:t>
            </a: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5006" y="1164590"/>
            <a:ext cx="43914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CDE3CC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(3-5 minutes)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478" y="3709035"/>
            <a:ext cx="663429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Share the three common biases.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Invite the team to notice which one appears most often in your meetings.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Continue the conversation with that awareness in mind.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52647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955" y="7385024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Bias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es are pa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rt of how the brain works. Recognising them helps teams slow down automatic thinking and stay open to different perspectives.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55" y="6817049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245" y="7368022"/>
            <a:ext cx="6746051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Often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the simple ac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 of naming the pattern helps teams notice it sooner.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31245" y="6800046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C8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27377"/>
            <a:ext cx="18288000" cy="10096914"/>
            <a:chOff x="0" y="0"/>
            <a:chExt cx="4816593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59270"/>
            </a:xfrm>
            <a:custGeom>
              <a:avLst/>
              <a:gdLst/>
              <a:ahLst/>
              <a:cxnLst/>
              <a:rect r="r" b="b" t="t" l="l"/>
              <a:pathLst>
                <a:path h="2659270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616936"/>
                  </a:lnTo>
                  <a:cubicBezTo>
                    <a:pt x="4816592" y="2628164"/>
                    <a:pt x="4812132" y="2638932"/>
                    <a:pt x="4804193" y="2646871"/>
                  </a:cubicBezTo>
                  <a:cubicBezTo>
                    <a:pt x="4796254" y="2654810"/>
                    <a:pt x="4785487" y="2659270"/>
                    <a:pt x="4774259" y="2659270"/>
                  </a:cubicBezTo>
                  <a:lnTo>
                    <a:pt x="42333" y="2659270"/>
                  </a:lnTo>
                  <a:cubicBezTo>
                    <a:pt x="31106" y="2659270"/>
                    <a:pt x="20338" y="2654810"/>
                    <a:pt x="12399" y="2646871"/>
                  </a:cubicBezTo>
                  <a:cubicBezTo>
                    <a:pt x="4460" y="2638932"/>
                    <a:pt x="0" y="2628164"/>
                    <a:pt x="0" y="261693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85013" y="365125"/>
            <a:ext cx="1411797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0F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 B</a:t>
            </a:r>
            <a:r>
              <a:rPr lang="en-US" sz="7000">
                <a:solidFill>
                  <a:srgbClr val="0F4F58"/>
                </a:solidFill>
                <a:latin typeface="IBM Plex Sans"/>
                <a:ea typeface="IBM Plex Sans"/>
                <a:cs typeface="IBM Plex Sans"/>
                <a:sym typeface="IBM Plex Sans"/>
              </a:rPr>
              <a:t>iases to Notice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81439" y="3173733"/>
            <a:ext cx="2777325" cy="2777325"/>
          </a:xfrm>
          <a:custGeom>
            <a:avLst/>
            <a:gdLst/>
            <a:ahLst/>
            <a:cxnLst/>
            <a:rect r="r" b="b" t="t" l="l"/>
            <a:pathLst>
              <a:path h="2777325" w="2777325">
                <a:moveTo>
                  <a:pt x="0" y="0"/>
                </a:moveTo>
                <a:lnTo>
                  <a:pt x="2777325" y="0"/>
                </a:lnTo>
                <a:lnTo>
                  <a:pt x="2777325" y="2777325"/>
                </a:lnTo>
                <a:lnTo>
                  <a:pt x="0" y="2777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99870" y="3173733"/>
            <a:ext cx="2777325" cy="2777325"/>
          </a:xfrm>
          <a:custGeom>
            <a:avLst/>
            <a:gdLst/>
            <a:ahLst/>
            <a:cxnLst/>
            <a:rect r="r" b="b" t="t" l="l"/>
            <a:pathLst>
              <a:path h="2777325" w="2777325">
                <a:moveTo>
                  <a:pt x="0" y="0"/>
                </a:moveTo>
                <a:lnTo>
                  <a:pt x="2777326" y="0"/>
                </a:lnTo>
                <a:lnTo>
                  <a:pt x="2777326" y="2777325"/>
                </a:lnTo>
                <a:lnTo>
                  <a:pt x="0" y="277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25662" y="3173733"/>
            <a:ext cx="2777325" cy="2777325"/>
          </a:xfrm>
          <a:custGeom>
            <a:avLst/>
            <a:gdLst/>
            <a:ahLst/>
            <a:cxnLst/>
            <a:rect r="r" b="b" t="t" l="l"/>
            <a:pathLst>
              <a:path h="2777325" w="2777325">
                <a:moveTo>
                  <a:pt x="0" y="0"/>
                </a:moveTo>
                <a:lnTo>
                  <a:pt x="2777325" y="0"/>
                </a:lnTo>
                <a:lnTo>
                  <a:pt x="2777325" y="2777325"/>
                </a:lnTo>
                <a:lnTo>
                  <a:pt x="0" y="2777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25785" y="6100059"/>
            <a:ext cx="417763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</a:t>
            </a:r>
            <a:r>
              <a:rPr lang="en-US" b="true" sz="23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nfidence sounds like certainty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2601" y="7074000"/>
            <a:ext cx="3538298" cy="264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Wh</a:t>
            </a: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en someone presents an idea with strong confidence, it can quickly gain traction, even before others have had time to think it through.</a:t>
            </a: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Sometimes the most confident voice shapes the direction of the conversation.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2982" y="2149499"/>
            <a:ext cx="15872298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Which of these feels familiar?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55184" y="6100059"/>
            <a:ext cx="417763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</a:t>
            </a:r>
            <a:r>
              <a:rPr lang="en-US" b="true" sz="23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ilence is often taken as agreement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2000" y="7074000"/>
            <a:ext cx="3538298" cy="205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Wh</a:t>
            </a: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en a question is asked and no one responds, it’s easy to assume everyone agrees.</a:t>
            </a: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But silence can mean many things: people may still be thinking, unsure, or hesitant to speak.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90166" y="6100059"/>
            <a:ext cx="417763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</a:t>
            </a:r>
            <a:r>
              <a:rPr lang="en-US" b="true" sz="23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first idea anchors the discussion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96982" y="7074000"/>
            <a:ext cx="3538298" cy="234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Th</a:t>
            </a: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e first idea shared in a conversation often becomes the reference point for everything that follows.</a:t>
            </a: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Even when better ideas appear later, the group tends to compare them to the first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DAHDKcauFmM</dc:identifier>
  <dcterms:modified xsi:type="dcterms:W3CDTF">2011-08-01T06:04:30Z</dcterms:modified>
  <cp:revision>1</cp:revision>
  <dc:title>Yellow Simple Monthly Performance Report Presentation</dc:title>
</cp:coreProperties>
</file>