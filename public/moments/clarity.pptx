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</p:sldIdLst>
  <p:sldSz cx="18288000" cy="10287000"/>
  <p:notesSz cx="6858000" cy="9144000"/>
  <p:embeddedFontLst>
    <p:embeddedFont>
      <p:font typeface="IBM Plex Sans" panose="020B0503050203000203" pitchFamily="34" charset="0"/>
      <p:regular r:id="rId5"/>
      <p:bold r:id="rId6"/>
      <p:italic r:id="rId7"/>
      <p:boldItalic r:id="rId8"/>
    </p:embeddedFont>
    <p:embeddedFont>
      <p:font typeface="IBM Plex Sans Bold Italics" panose="020B0803050203000203" pitchFamily="34" charset="0"/>
      <p:regular r:id="rId9"/>
      <p:bold r:id="rId10"/>
      <p:italic r:id="rId11"/>
      <p:boldItalic r:id="rId12"/>
    </p:embeddedFont>
    <p:embeddedFont>
      <p:font typeface="IBM Plex Sans Medium" panose="020F0502020204030204" pitchFamily="34" charset="0"/>
      <p:regular r:id="rId13"/>
      <p:italic r:id="rId14"/>
    </p:embeddedFont>
    <p:embeddedFont>
      <p:font typeface="Open Sans" panose="020B0606030504020204" pitchFamily="34" charset="0"/>
      <p:regular r:id="rId15"/>
      <p:bold r:id="rId16"/>
      <p:italic r:id="rId17"/>
      <p:boldItalic r:id="rId18"/>
    </p:embeddedFont>
    <p:embeddedFont>
      <p:font typeface="Open Sans Light" panose="020B0306030504020204" pitchFamily="34" charset="0"/>
      <p:regular r:id="rId19"/>
      <p:italic r:id="rId20"/>
    </p:embeddedFont>
    <p:embeddedFont>
      <p:font typeface="Open Sans Semi-Bold" pitchFamily="2" charset="0"/>
      <p:regular r:id="rId21"/>
      <p:bold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597" autoAdjust="0"/>
  </p:normalViewPr>
  <p:slideViewPr>
    <p:cSldViewPr>
      <p:cViewPr varScale="1">
        <p:scale>
          <a:sx n="71" d="100"/>
          <a:sy n="71" d="100"/>
        </p:scale>
        <p:origin x="784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18" Type="http://schemas.openxmlformats.org/officeDocument/2006/relationships/font" Target="fonts/font1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7.fntdata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font" Target="fonts/font1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2.fntdata"/><Relationship Id="rId20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24" Type="http://schemas.openxmlformats.org/officeDocument/2006/relationships/viewProps" Target="viewProps.xml"/><Relationship Id="rId5" Type="http://schemas.openxmlformats.org/officeDocument/2006/relationships/font" Target="fonts/font1.fntdata"/><Relationship Id="rId15" Type="http://schemas.openxmlformats.org/officeDocument/2006/relationships/font" Target="fonts/font11.fntdata"/><Relationship Id="rId23" Type="http://schemas.openxmlformats.org/officeDocument/2006/relationships/presProps" Target="presProps.xml"/><Relationship Id="rId10" Type="http://schemas.openxmlformats.org/officeDocument/2006/relationships/font" Target="fonts/font6.fntdata"/><Relationship Id="rId19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font" Target="fonts/font5.fntdata"/><Relationship Id="rId14" Type="http://schemas.openxmlformats.org/officeDocument/2006/relationships/font" Target="fonts/font10.fntdata"/><Relationship Id="rId22" Type="http://schemas.openxmlformats.org/officeDocument/2006/relationships/font" Target="fonts/font18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6B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725879" y="723900"/>
            <a:ext cx="7670524" cy="9563100"/>
            <a:chOff x="0" y="0"/>
            <a:chExt cx="2020220" cy="26592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20220" cy="2659270"/>
            </a:xfrm>
            <a:custGeom>
              <a:avLst/>
              <a:gdLst/>
              <a:ahLst/>
              <a:cxnLst/>
              <a:rect l="l" t="t" r="r" b="b"/>
              <a:pathLst>
                <a:path w="2020220" h="2659270">
                  <a:moveTo>
                    <a:pt x="100931" y="0"/>
                  </a:moveTo>
                  <a:lnTo>
                    <a:pt x="1919289" y="0"/>
                  </a:lnTo>
                  <a:cubicBezTo>
                    <a:pt x="1975032" y="0"/>
                    <a:pt x="2020220" y="45188"/>
                    <a:pt x="2020220" y="100931"/>
                  </a:cubicBezTo>
                  <a:lnTo>
                    <a:pt x="2020220" y="2558339"/>
                  </a:lnTo>
                  <a:cubicBezTo>
                    <a:pt x="2020220" y="2585107"/>
                    <a:pt x="2009587" y="2610780"/>
                    <a:pt x="1990658" y="2629708"/>
                  </a:cubicBezTo>
                  <a:cubicBezTo>
                    <a:pt x="1971730" y="2648636"/>
                    <a:pt x="1946058" y="2659270"/>
                    <a:pt x="1919289" y="2659270"/>
                  </a:cubicBezTo>
                  <a:lnTo>
                    <a:pt x="100931" y="2659270"/>
                  </a:lnTo>
                  <a:cubicBezTo>
                    <a:pt x="45188" y="2659270"/>
                    <a:pt x="0" y="2614081"/>
                    <a:pt x="0" y="2558339"/>
                  </a:cubicBezTo>
                  <a:lnTo>
                    <a:pt x="0" y="100931"/>
                  </a:lnTo>
                  <a:cubicBezTo>
                    <a:pt x="0" y="45188"/>
                    <a:pt x="45188" y="0"/>
                    <a:pt x="100931" y="0"/>
                  </a:cubicBezTo>
                  <a:close/>
                </a:path>
              </a:pathLst>
            </a:custGeom>
            <a:solidFill>
              <a:srgbClr val="FEF3F2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020220" cy="26973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3384550"/>
            <a:ext cx="9177756" cy="365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299"/>
              </a:lnSpc>
            </a:pPr>
            <a:r>
              <a:rPr lang="en-US" sz="12999" b="1" i="1">
                <a:solidFill>
                  <a:srgbClr val="FEF3F2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Pause for Clarity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6504701" y="6955669"/>
            <a:ext cx="754599" cy="160261"/>
            <a:chOff x="0" y="0"/>
            <a:chExt cx="198742" cy="4220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8742" cy="42209"/>
            </a:xfrm>
            <a:custGeom>
              <a:avLst/>
              <a:gdLst/>
              <a:ahLst/>
              <a:cxnLst/>
              <a:rect l="l" t="t" r="r" b="b"/>
              <a:pathLst>
                <a:path w="198742" h="42209">
                  <a:moveTo>
                    <a:pt x="0" y="0"/>
                  </a:moveTo>
                  <a:lnTo>
                    <a:pt x="198742" y="0"/>
                  </a:lnTo>
                  <a:lnTo>
                    <a:pt x="198742" y="42209"/>
                  </a:lnTo>
                  <a:lnTo>
                    <a:pt x="0" y="42209"/>
                  </a:lnTo>
                  <a:close/>
                </a:path>
              </a:pathLst>
            </a:custGeom>
            <a:solidFill>
              <a:srgbClr val="276B6B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98742" cy="803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5636292" y="6955669"/>
            <a:ext cx="754599" cy="160261"/>
            <a:chOff x="0" y="0"/>
            <a:chExt cx="198742" cy="4220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8742" cy="42209"/>
            </a:xfrm>
            <a:custGeom>
              <a:avLst/>
              <a:gdLst/>
              <a:ahLst/>
              <a:cxnLst/>
              <a:rect l="l" t="t" r="r" b="b"/>
              <a:pathLst>
                <a:path w="198742" h="42209">
                  <a:moveTo>
                    <a:pt x="0" y="0"/>
                  </a:moveTo>
                  <a:lnTo>
                    <a:pt x="198742" y="0"/>
                  </a:lnTo>
                  <a:lnTo>
                    <a:pt x="198742" y="42209"/>
                  </a:lnTo>
                  <a:lnTo>
                    <a:pt x="0" y="42209"/>
                  </a:lnTo>
                  <a:close/>
                </a:path>
              </a:pathLst>
            </a:custGeom>
            <a:solidFill>
              <a:srgbClr val="276B6B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98742" cy="803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767884" y="6955669"/>
            <a:ext cx="754599" cy="160261"/>
            <a:chOff x="0" y="0"/>
            <a:chExt cx="198742" cy="4220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8742" cy="42209"/>
            </a:xfrm>
            <a:custGeom>
              <a:avLst/>
              <a:gdLst/>
              <a:ahLst/>
              <a:cxnLst/>
              <a:rect l="l" t="t" r="r" b="b"/>
              <a:pathLst>
                <a:path w="198742" h="42209">
                  <a:moveTo>
                    <a:pt x="0" y="0"/>
                  </a:moveTo>
                  <a:lnTo>
                    <a:pt x="198742" y="0"/>
                  </a:lnTo>
                  <a:lnTo>
                    <a:pt x="198742" y="42209"/>
                  </a:lnTo>
                  <a:lnTo>
                    <a:pt x="0" y="42209"/>
                  </a:lnTo>
                  <a:close/>
                </a:path>
              </a:pathLst>
            </a:custGeom>
            <a:solidFill>
              <a:srgbClr val="276B6B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98742" cy="803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4205762" y="2026387"/>
            <a:ext cx="3053538" cy="1544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F4F5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This moment reminds us to pause and check the obvious before it becomes a problem.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962025"/>
            <a:ext cx="5850259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E6A757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Hi Humaniser! Moment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746723" y="7870690"/>
            <a:ext cx="3551520" cy="1471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19"/>
              </a:lnSpc>
              <a:spcBef>
                <a:spcPct val="0"/>
              </a:spcBef>
            </a:pPr>
            <a:r>
              <a:rPr lang="en-US" sz="2799" b="1" i="1">
                <a:solidFill>
                  <a:srgbClr val="E6A757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Small habits shape how teams work together.</a:t>
            </a:r>
          </a:p>
        </p:txBody>
      </p:sp>
      <p:sp>
        <p:nvSpPr>
          <p:cNvPr id="18" name="Freeform 18"/>
          <p:cNvSpPr/>
          <p:nvPr/>
        </p:nvSpPr>
        <p:spPr>
          <a:xfrm rot="438375">
            <a:off x="10753173" y="27316"/>
            <a:ext cx="4834333" cy="4640960"/>
          </a:xfrm>
          <a:custGeom>
            <a:avLst/>
            <a:gdLst/>
            <a:ahLst/>
            <a:cxnLst/>
            <a:rect l="l" t="t" r="r" b="b"/>
            <a:pathLst>
              <a:path w="4834333" h="4640960">
                <a:moveTo>
                  <a:pt x="0" y="0"/>
                </a:moveTo>
                <a:lnTo>
                  <a:pt x="4834333" y="0"/>
                </a:lnTo>
                <a:lnTo>
                  <a:pt x="4834333" y="4640959"/>
                </a:lnTo>
                <a:lnTo>
                  <a:pt x="0" y="46409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895350"/>
            <a:ext cx="11975571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00"/>
              </a:lnSpc>
              <a:spcBef>
                <a:spcPct val="0"/>
              </a:spcBef>
            </a:pPr>
            <a:r>
              <a:rPr lang="en-US" sz="7000" b="1">
                <a:solidFill>
                  <a:srgbClr val="A86B28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Pause for Clarity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8700" y="6528070"/>
            <a:ext cx="7646561" cy="2608001"/>
            <a:chOff x="0" y="0"/>
            <a:chExt cx="2013909" cy="68688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13909" cy="686881"/>
            </a:xfrm>
            <a:custGeom>
              <a:avLst/>
              <a:gdLst/>
              <a:ahLst/>
              <a:cxnLst/>
              <a:rect l="l" t="t" r="r" b="b"/>
              <a:pathLst>
                <a:path w="2013909" h="686881">
                  <a:moveTo>
                    <a:pt x="40499" y="0"/>
                  </a:moveTo>
                  <a:lnTo>
                    <a:pt x="1973410" y="0"/>
                  </a:lnTo>
                  <a:cubicBezTo>
                    <a:pt x="1984151" y="0"/>
                    <a:pt x="1994452" y="4267"/>
                    <a:pt x="2002047" y="11862"/>
                  </a:cubicBezTo>
                  <a:cubicBezTo>
                    <a:pt x="2009642" y="19457"/>
                    <a:pt x="2013909" y="29758"/>
                    <a:pt x="2013909" y="40499"/>
                  </a:cubicBezTo>
                  <a:lnTo>
                    <a:pt x="2013909" y="646382"/>
                  </a:lnTo>
                  <a:cubicBezTo>
                    <a:pt x="2013909" y="657123"/>
                    <a:pt x="2009642" y="667424"/>
                    <a:pt x="2002047" y="675019"/>
                  </a:cubicBezTo>
                  <a:cubicBezTo>
                    <a:pt x="1994452" y="682614"/>
                    <a:pt x="1984151" y="686881"/>
                    <a:pt x="1973410" y="686881"/>
                  </a:cubicBezTo>
                  <a:lnTo>
                    <a:pt x="40499" y="686881"/>
                  </a:lnTo>
                  <a:cubicBezTo>
                    <a:pt x="18132" y="686881"/>
                    <a:pt x="0" y="668749"/>
                    <a:pt x="0" y="646382"/>
                  </a:cubicBezTo>
                  <a:lnTo>
                    <a:pt x="0" y="40499"/>
                  </a:lnTo>
                  <a:cubicBezTo>
                    <a:pt x="0" y="29758"/>
                    <a:pt x="4267" y="19457"/>
                    <a:pt x="11862" y="11862"/>
                  </a:cubicBezTo>
                  <a:cubicBezTo>
                    <a:pt x="19457" y="4267"/>
                    <a:pt x="29758" y="0"/>
                    <a:pt x="40499" y="0"/>
                  </a:cubicBezTo>
                  <a:close/>
                </a:path>
              </a:pathLst>
            </a:custGeom>
            <a:solidFill>
              <a:srgbClr val="567F55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013909" cy="7249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2875524"/>
            <a:ext cx="7646561" cy="3361901"/>
            <a:chOff x="0" y="0"/>
            <a:chExt cx="2013909" cy="88543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13909" cy="885439"/>
            </a:xfrm>
            <a:custGeom>
              <a:avLst/>
              <a:gdLst/>
              <a:ahLst/>
              <a:cxnLst/>
              <a:rect l="l" t="t" r="r" b="b"/>
              <a:pathLst>
                <a:path w="2013909" h="885439">
                  <a:moveTo>
                    <a:pt x="40499" y="0"/>
                  </a:moveTo>
                  <a:lnTo>
                    <a:pt x="1973410" y="0"/>
                  </a:lnTo>
                  <a:cubicBezTo>
                    <a:pt x="1984151" y="0"/>
                    <a:pt x="1994452" y="4267"/>
                    <a:pt x="2002047" y="11862"/>
                  </a:cubicBezTo>
                  <a:cubicBezTo>
                    <a:pt x="2009642" y="19457"/>
                    <a:pt x="2013909" y="29758"/>
                    <a:pt x="2013909" y="40499"/>
                  </a:cubicBezTo>
                  <a:lnTo>
                    <a:pt x="2013909" y="844940"/>
                  </a:lnTo>
                  <a:cubicBezTo>
                    <a:pt x="2013909" y="867307"/>
                    <a:pt x="1995777" y="885439"/>
                    <a:pt x="1973410" y="885439"/>
                  </a:cubicBezTo>
                  <a:lnTo>
                    <a:pt x="40499" y="885439"/>
                  </a:lnTo>
                  <a:cubicBezTo>
                    <a:pt x="29758" y="885439"/>
                    <a:pt x="19457" y="881172"/>
                    <a:pt x="11862" y="873577"/>
                  </a:cubicBezTo>
                  <a:cubicBezTo>
                    <a:pt x="4267" y="865982"/>
                    <a:pt x="0" y="855681"/>
                    <a:pt x="0" y="844940"/>
                  </a:cubicBezTo>
                  <a:lnTo>
                    <a:pt x="0" y="40499"/>
                  </a:lnTo>
                  <a:cubicBezTo>
                    <a:pt x="0" y="29758"/>
                    <a:pt x="4267" y="19457"/>
                    <a:pt x="11862" y="11862"/>
                  </a:cubicBezTo>
                  <a:cubicBezTo>
                    <a:pt x="19457" y="4267"/>
                    <a:pt x="29758" y="0"/>
                    <a:pt x="40499" y="0"/>
                  </a:cubicBezTo>
                  <a:close/>
                </a:path>
              </a:pathLst>
            </a:custGeom>
            <a:solidFill>
              <a:srgbClr val="0F4F58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013909" cy="9235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144000" y="6446975"/>
            <a:ext cx="7720542" cy="2608001"/>
            <a:chOff x="0" y="0"/>
            <a:chExt cx="2033394" cy="68688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33394" cy="686881"/>
            </a:xfrm>
            <a:custGeom>
              <a:avLst/>
              <a:gdLst/>
              <a:ahLst/>
              <a:cxnLst/>
              <a:rect l="l" t="t" r="r" b="b"/>
              <a:pathLst>
                <a:path w="2033394" h="686881">
                  <a:moveTo>
                    <a:pt x="40111" y="0"/>
                  </a:moveTo>
                  <a:lnTo>
                    <a:pt x="1993283" y="0"/>
                  </a:lnTo>
                  <a:cubicBezTo>
                    <a:pt x="2015436" y="0"/>
                    <a:pt x="2033394" y="17958"/>
                    <a:pt x="2033394" y="40111"/>
                  </a:cubicBezTo>
                  <a:lnTo>
                    <a:pt x="2033394" y="646770"/>
                  </a:lnTo>
                  <a:cubicBezTo>
                    <a:pt x="2033394" y="657408"/>
                    <a:pt x="2029168" y="667610"/>
                    <a:pt x="2021646" y="675133"/>
                  </a:cubicBezTo>
                  <a:cubicBezTo>
                    <a:pt x="2014123" y="682655"/>
                    <a:pt x="2003921" y="686881"/>
                    <a:pt x="1993283" y="686881"/>
                  </a:cubicBezTo>
                  <a:lnTo>
                    <a:pt x="40111" y="686881"/>
                  </a:lnTo>
                  <a:cubicBezTo>
                    <a:pt x="17958" y="686881"/>
                    <a:pt x="0" y="668923"/>
                    <a:pt x="0" y="646770"/>
                  </a:cubicBezTo>
                  <a:lnTo>
                    <a:pt x="0" y="40111"/>
                  </a:lnTo>
                  <a:cubicBezTo>
                    <a:pt x="0" y="17958"/>
                    <a:pt x="17958" y="0"/>
                    <a:pt x="40111" y="0"/>
                  </a:cubicBezTo>
                  <a:close/>
                </a:path>
              </a:pathLst>
            </a:custGeom>
            <a:solidFill>
              <a:srgbClr val="0F4F58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033394" cy="7249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144000" y="2770986"/>
            <a:ext cx="7720542" cy="3361901"/>
            <a:chOff x="0" y="0"/>
            <a:chExt cx="2033394" cy="88543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033394" cy="885439"/>
            </a:xfrm>
            <a:custGeom>
              <a:avLst/>
              <a:gdLst/>
              <a:ahLst/>
              <a:cxnLst/>
              <a:rect l="l" t="t" r="r" b="b"/>
              <a:pathLst>
                <a:path w="2033394" h="885439">
                  <a:moveTo>
                    <a:pt x="40111" y="0"/>
                  </a:moveTo>
                  <a:lnTo>
                    <a:pt x="1993283" y="0"/>
                  </a:lnTo>
                  <a:cubicBezTo>
                    <a:pt x="2015436" y="0"/>
                    <a:pt x="2033394" y="17958"/>
                    <a:pt x="2033394" y="40111"/>
                  </a:cubicBezTo>
                  <a:lnTo>
                    <a:pt x="2033394" y="845328"/>
                  </a:lnTo>
                  <a:cubicBezTo>
                    <a:pt x="2033394" y="867481"/>
                    <a:pt x="2015436" y="885439"/>
                    <a:pt x="1993283" y="885439"/>
                  </a:cubicBezTo>
                  <a:lnTo>
                    <a:pt x="40111" y="885439"/>
                  </a:lnTo>
                  <a:cubicBezTo>
                    <a:pt x="17958" y="885439"/>
                    <a:pt x="0" y="867481"/>
                    <a:pt x="0" y="845328"/>
                  </a:cubicBezTo>
                  <a:lnTo>
                    <a:pt x="0" y="40111"/>
                  </a:lnTo>
                  <a:cubicBezTo>
                    <a:pt x="0" y="17958"/>
                    <a:pt x="17958" y="0"/>
                    <a:pt x="40111" y="0"/>
                  </a:cubicBezTo>
                  <a:close/>
                </a:path>
              </a:pathLst>
            </a:custGeom>
            <a:solidFill>
              <a:srgbClr val="276B6B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033394" cy="9235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295318" y="3709035"/>
            <a:ext cx="6746051" cy="1554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EF3F2"/>
                </a:solidFill>
                <a:latin typeface="Open Sans"/>
                <a:ea typeface="Open Sans"/>
                <a:cs typeface="Open Sans"/>
                <a:sym typeface="Open Sans"/>
              </a:rPr>
              <a:t>At the start of a meeting, especially when discussing plans, responsibilities, or decisions.</a:t>
            </a:r>
          </a:p>
          <a:p>
            <a:pPr algn="l">
              <a:lnSpc>
                <a:spcPts val="2520"/>
              </a:lnSpc>
            </a:pPr>
            <a:endParaRPr lang="en-US" sz="1800">
              <a:solidFill>
                <a:srgbClr val="FEF3F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EF3F2"/>
                </a:solidFill>
                <a:latin typeface="Open Sans"/>
                <a:ea typeface="Open Sans"/>
                <a:cs typeface="Open Sans"/>
                <a:sym typeface="Open Sans"/>
              </a:rPr>
              <a:t>It works best as a short reminder, not a discussion.</a:t>
            </a:r>
          </a:p>
          <a:p>
            <a:pPr algn="l">
              <a:lnSpc>
                <a:spcPts val="2520"/>
              </a:lnSpc>
            </a:pPr>
            <a:endParaRPr lang="en-US" sz="1800">
              <a:solidFill>
                <a:srgbClr val="FEF3F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295318" y="3141060"/>
            <a:ext cx="2340775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FE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When to use it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225006" y="1164590"/>
            <a:ext cx="4391432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1">
                <a:solidFill>
                  <a:srgbClr val="A86B28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(3-5 minutes)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526478" y="3709035"/>
            <a:ext cx="6850819" cy="1240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EF3F2"/>
                </a:solidFill>
                <a:latin typeface="Open Sans"/>
                <a:ea typeface="Open Sans"/>
                <a:cs typeface="Open Sans"/>
                <a:sym typeface="Open Sans"/>
              </a:rPr>
              <a:t>Show the Pause for Clarity slide.</a:t>
            </a:r>
          </a:p>
          <a:p>
            <a:pPr marL="388620" lvl="1" indent="-194310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EF3F2"/>
                </a:solidFill>
                <a:latin typeface="Open Sans"/>
                <a:ea typeface="Open Sans"/>
                <a:cs typeface="Open Sans"/>
                <a:sym typeface="Open Sans"/>
              </a:rPr>
              <a:t>Remind the team that assumptions often hide in plain sight.</a:t>
            </a:r>
          </a:p>
          <a:p>
            <a:pPr marL="388620" lvl="1" indent="-194310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EF3F2"/>
                </a:solidFill>
                <a:latin typeface="Open Sans"/>
                <a:ea typeface="Open Sans"/>
                <a:cs typeface="Open Sans"/>
                <a:sym typeface="Open Sans"/>
              </a:rPr>
              <a:t>Invite people to notice where something might need confirming.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526478" y="3141060"/>
            <a:ext cx="2340775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FE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How it works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78955" y="7385024"/>
            <a:ext cx="6746051" cy="1240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EF3F2"/>
                </a:solidFill>
                <a:latin typeface="Open Sans"/>
                <a:ea typeface="Open Sans"/>
                <a:cs typeface="Open Sans"/>
                <a:sym typeface="Open Sans"/>
              </a:rPr>
              <a:t>Many misunderstandings don’t come from bad intentions. They come from things everyone thought were obvious but never actually checked.</a:t>
            </a:r>
          </a:p>
          <a:p>
            <a:pPr algn="l">
              <a:lnSpc>
                <a:spcPts val="2520"/>
              </a:lnSpc>
            </a:pPr>
            <a:endParaRPr lang="en-US" sz="1800">
              <a:solidFill>
                <a:srgbClr val="FEF3F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478955" y="6817049"/>
            <a:ext cx="2340775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FE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Why it helps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631245" y="7368022"/>
            <a:ext cx="6746051" cy="1240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EF3F2"/>
                </a:solidFill>
                <a:latin typeface="Open Sans"/>
                <a:ea typeface="Open Sans"/>
                <a:cs typeface="Open Sans"/>
                <a:sym typeface="Open Sans"/>
              </a:rPr>
              <a:t>Keep it simple.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EF3F2"/>
                </a:solidFill>
                <a:latin typeface="Open Sans"/>
                <a:ea typeface="Open Sans"/>
                <a:cs typeface="Open Sans"/>
                <a:sym typeface="Open Sans"/>
              </a:rPr>
              <a:t>The goal is not to over analyse assumptions, it’s just to pause and confirm key details before moving on.</a:t>
            </a:r>
          </a:p>
          <a:p>
            <a:pPr algn="l">
              <a:lnSpc>
                <a:spcPts val="2520"/>
              </a:lnSpc>
            </a:pPr>
            <a:endParaRPr lang="en-US" sz="1800">
              <a:solidFill>
                <a:srgbClr val="FEF3F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9631245" y="6800046"/>
            <a:ext cx="2340775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FE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Tips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927377"/>
            <a:ext cx="18288000" cy="10096914"/>
            <a:chOff x="0" y="0"/>
            <a:chExt cx="4816593" cy="26592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659270"/>
            </a:xfrm>
            <a:custGeom>
              <a:avLst/>
              <a:gdLst/>
              <a:ahLst/>
              <a:cxnLst/>
              <a:rect l="l" t="t" r="r" b="b"/>
              <a:pathLst>
                <a:path w="4816592" h="2659270">
                  <a:moveTo>
                    <a:pt x="42333" y="0"/>
                  </a:moveTo>
                  <a:lnTo>
                    <a:pt x="4774259" y="0"/>
                  </a:lnTo>
                  <a:cubicBezTo>
                    <a:pt x="4785487" y="0"/>
                    <a:pt x="4796254" y="4460"/>
                    <a:pt x="4804193" y="12399"/>
                  </a:cubicBezTo>
                  <a:cubicBezTo>
                    <a:pt x="4812132" y="20338"/>
                    <a:pt x="4816592" y="31106"/>
                    <a:pt x="4816592" y="42333"/>
                  </a:cubicBezTo>
                  <a:lnTo>
                    <a:pt x="4816592" y="2616936"/>
                  </a:lnTo>
                  <a:cubicBezTo>
                    <a:pt x="4816592" y="2628164"/>
                    <a:pt x="4812132" y="2638932"/>
                    <a:pt x="4804193" y="2646871"/>
                  </a:cubicBezTo>
                  <a:cubicBezTo>
                    <a:pt x="4796254" y="2654810"/>
                    <a:pt x="4785487" y="2659270"/>
                    <a:pt x="4774259" y="2659270"/>
                  </a:cubicBezTo>
                  <a:lnTo>
                    <a:pt x="42333" y="2659270"/>
                  </a:lnTo>
                  <a:cubicBezTo>
                    <a:pt x="31106" y="2659270"/>
                    <a:pt x="20338" y="2654810"/>
                    <a:pt x="12399" y="2646871"/>
                  </a:cubicBezTo>
                  <a:cubicBezTo>
                    <a:pt x="4460" y="2638932"/>
                    <a:pt x="0" y="2628164"/>
                    <a:pt x="0" y="2616936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276B6B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6973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914339" y="1302779"/>
            <a:ext cx="6661107" cy="6661107"/>
          </a:xfrm>
          <a:custGeom>
            <a:avLst/>
            <a:gdLst/>
            <a:ahLst/>
            <a:cxnLst/>
            <a:rect l="l" t="t" r="r" b="b"/>
            <a:pathLst>
              <a:path w="6661107" h="6661107">
                <a:moveTo>
                  <a:pt x="0" y="0"/>
                </a:moveTo>
                <a:lnTo>
                  <a:pt x="6661107" y="0"/>
                </a:lnTo>
                <a:lnTo>
                  <a:pt x="6661107" y="6661107"/>
                </a:lnTo>
                <a:lnTo>
                  <a:pt x="0" y="66611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TextBox 6"/>
          <p:cNvSpPr txBox="1"/>
          <p:nvPr/>
        </p:nvSpPr>
        <p:spPr>
          <a:xfrm>
            <a:off x="2085013" y="365125"/>
            <a:ext cx="14117975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0"/>
              </a:lnSpc>
              <a:spcBef>
                <a:spcPct val="0"/>
              </a:spcBef>
            </a:pPr>
            <a:r>
              <a:rPr lang="en-US" sz="7000">
                <a:solidFill>
                  <a:srgbClr val="0F4F58"/>
                </a:solidFill>
                <a:latin typeface="IBM Plex Sans"/>
                <a:ea typeface="IBM Plex Sans"/>
                <a:cs typeface="IBM Plex Sans"/>
                <a:sym typeface="IBM Plex Sans"/>
              </a:rPr>
              <a:t>Pause for Clarity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94752" y="2571561"/>
            <a:ext cx="13641181" cy="1899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 b="1">
                <a:solidFill>
                  <a:srgbClr val="FE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When we are busy, we often move forward based on what we think was understood or agreed. Later we realise people interpreted things differently.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54381" y="6698480"/>
            <a:ext cx="6289867" cy="53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 b="1">
                <a:solidFill>
                  <a:srgbClr val="FE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It can help to pause and ask: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54381" y="7349227"/>
            <a:ext cx="8748607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6" lvl="1" indent="-269873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EF3F2"/>
                </a:solidFill>
                <a:latin typeface="Open Sans"/>
                <a:ea typeface="Open Sans"/>
                <a:cs typeface="Open Sans"/>
                <a:sym typeface="Open Sans"/>
              </a:rPr>
              <a:t>Are we interpreting this the same way?</a:t>
            </a:r>
          </a:p>
          <a:p>
            <a:pPr marL="539746" lvl="1" indent="-269873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EF3F2"/>
                </a:solidFill>
                <a:latin typeface="Open Sans"/>
                <a:ea typeface="Open Sans"/>
                <a:cs typeface="Open Sans"/>
                <a:sym typeface="Open Sans"/>
              </a:rPr>
              <a:t>Is anything still unclear before we move on?</a:t>
            </a:r>
          </a:p>
          <a:p>
            <a:pPr marL="539746" lvl="1" indent="-269873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EF3F2"/>
                </a:solidFill>
                <a:latin typeface="Open Sans"/>
                <a:ea typeface="Open Sans"/>
                <a:cs typeface="Open Sans"/>
                <a:sym typeface="Open Sans"/>
              </a:rPr>
              <a:t>Does anything need a quick confirmation?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</Words>
  <Application>Microsoft Macintosh PowerPoint</Application>
  <PresentationFormat>Custom</PresentationFormat>
  <Paragraphs>25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2" baseType="lpstr">
      <vt:lpstr>Open Sans Light</vt:lpstr>
      <vt:lpstr>Open Sans Semi-Bold</vt:lpstr>
      <vt:lpstr>IBM Plex Sans Bold Italics</vt:lpstr>
      <vt:lpstr>Open Sans</vt:lpstr>
      <vt:lpstr>IBM Plex Sans Medium</vt:lpstr>
      <vt:lpstr>IBM Plex Sans</vt:lpstr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Yellow Simple Monthly Performance Report Presentation</dc:title>
  <cp:lastModifiedBy>Natalia Sanz</cp:lastModifiedBy>
  <cp:revision>3</cp:revision>
  <dcterms:created xsi:type="dcterms:W3CDTF">2006-08-16T00:00:00Z</dcterms:created>
  <dcterms:modified xsi:type="dcterms:W3CDTF">2026-03-07T17:30:33Z</dcterms:modified>
  <dc:identifier>DAHDKcauFmM</dc:identifier>
</cp:coreProperties>
</file>